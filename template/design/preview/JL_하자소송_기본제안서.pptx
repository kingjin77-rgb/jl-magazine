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50532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02570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0257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370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6370" y="6224144"/>
            <a:ext cx="1035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173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173" y="6224144"/>
            <a:ext cx="16331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501" y="5903783"/>
            <a:ext cx="133141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501" y="6224144"/>
            <a:ext cx="13314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451" y="5995315"/>
            <a:ext cx="29769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451" y="6187531"/>
            <a:ext cx="29769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0396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81864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15675"/>
            <a:ext cx="23926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688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3153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53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1739099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20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20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520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2102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2102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22102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997" y="2434738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8997" y="2663567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8997" y="2965621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8648" y="5920373"/>
            <a:ext cx="4318457" cy="585092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416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38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47099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0796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4888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1934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67495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05477"/>
            <a:ext cx="14421708" cy="5002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4"/>
              </a:lnSpc>
            </a:pPr>
            <a:r>
              <a:rPr sz="1939" b="1">
                <a:solidFill>
                  <a:srgbClr val="0D2162"/>
                </a:solidFill>
                <a:latin typeface="210 옴니고딕 050"/>
              </a:rPr>
              <a:t>시급성 · 전문성 · 일원화 —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—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4482482" cy="311278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18985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7639"/>
            <a:ext cx="295152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7639"/>
            <a:ext cx="295134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7639"/>
            <a:ext cx="29630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93599"/>
            <a:ext cx="118533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463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2461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8021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556036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1867243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645261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2855783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093765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8180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180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5657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5657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3135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3135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612" y="388093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612" y="409145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792" y="4604036"/>
            <a:ext cx="54353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5295" y="4604036"/>
            <a:ext cx="6122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2400" y="4604036"/>
            <a:ext cx="16958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832864"/>
            <a:ext cx="3525794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144072"/>
            <a:ext cx="35257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372972"/>
            <a:ext cx="8700987" cy="25306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공동주택 하자소송은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일은 법률 지식만으로 되지 않고, 찾아낸 것을 법정에서 받아내는 일은 기술만으로 되지 않습니다.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법무법인 제이엘은 하자조사부터 감정 대응, 소송, 회수까지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150" b="0">
                <a:solidFill>
                  <a:srgbClr val="111418"/>
                </a:solidFill>
                <a:latin typeface="Pretendard"/>
              </a:rPr>
              <a:t>해 왔습니다. 단독으로 수행해 판결에 이른 사건이 </a:t>
            </a:r>
            <a:r>
              <a:rPr sz="1150" b="1">
                <a:solidFill>
                  <a:srgbClr val="0D2162"/>
                </a:solidFill>
                <a:latin typeface="Pretendard"/>
              </a:rPr>
              <a:t>18건, 9,979세대</a:t>
            </a:r>
            <a:r>
              <a:rPr sz="1150" b="0">
                <a:solidFill>
                  <a:srgbClr val="111418"/>
                </a:solidFill>
                <a:latin typeface="Pretendard"/>
              </a:rPr>
              <a:t>입니다. 그 과정에서 확인한 것은, 입주자대표회의가 가장 힘들어하는 지점이 소송 자체가 아니라 </a:t>
            </a:r>
            <a:r>
              <a:rPr sz="1150" b="1">
                <a:solidFill>
                  <a:srgbClr val="0D2162"/>
                </a:solidFill>
                <a:latin typeface="Pretendard"/>
              </a:rPr>
              <a:t>착수 전 준비</a:t>
            </a:r>
            <a:r>
              <a:rPr sz="1150" b="0">
                <a:solidFill>
                  <a:srgbClr val="111418"/>
                </a:solidFill>
                <a:latin typeface="Pretendard"/>
              </a:rPr>
              <a:t>라는 사실이었습니다.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304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 그래서 감정료와 소송비용을 법인이 부담하고, 채권양도 동의서 징구도 법인이 직접 맡습니다. 결과를 약속드리지는 않겠습니다. 다만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맡은 일은 끝까지 직접 하겠습니다.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5261" y="4091459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810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261" y="4385218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4810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5261" y="4678977"/>
            <a:ext cx="5189471" cy="317070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4810" y="6242450"/>
            <a:ext cx="11606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1958774"/>
            <a:ext cx="679456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141837"/>
            <a:ext cx="67945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388972"/>
            <a:ext cx="5596695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25466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구성 — 하자소송은 세대 단위 사무 처리량이 결과를 좌우합니다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547561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4702" y="3547561"/>
            <a:ext cx="1954198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801" y="3547561"/>
            <a:ext cx="856643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729" y="3849615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4702" y="3849615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801" y="3849615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164827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94702" y="4164827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3801" y="4164827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729" y="4480039"/>
            <a:ext cx="1569765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4702" y="4480039"/>
            <a:ext cx="1954198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3801" y="4480039"/>
            <a:ext cx="856643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9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37298"/>
            <a:ext cx="13394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07541"/>
            <a:ext cx="21907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37584"/>
            <a:ext cx="134057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01369"/>
            <a:ext cx="238311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9027"/>
            <a:ext cx="38714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387141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099" y="686486"/>
            <a:ext cx="9125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099" y="1006846"/>
            <a:ext cx="9125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092" y="686486"/>
            <a:ext cx="9352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092" y="1006846"/>
            <a:ext cx="9352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6401" y="686486"/>
            <a:ext cx="1193021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86401" y="1006846"/>
            <a:ext cx="11930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85722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85722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85722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01626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01626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01626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4681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4681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4681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7735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7735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7735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079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079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079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384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384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384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6899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6899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6899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9953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9953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9953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08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08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08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6062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6062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6062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9117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9117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9117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32171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32171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32171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5226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5226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5226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8280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8280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8280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501335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501335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501335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24389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24389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24389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7444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7444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7444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70498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70498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70498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962135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962135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962135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962135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8918"/>
            <a:ext cx="10489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25115" y="6658918"/>
            <a:ext cx="9656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782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07279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80815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150990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40727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02597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24379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46160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28756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28756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585729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585729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42702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42702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299675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299675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1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3494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1376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527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41081"/>
            <a:ext cx="6011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8099" y="6004468"/>
            <a:ext cx="9007068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572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546" y="1377549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2536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25369"/>
            <a:ext cx="488804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5546" y="1725369"/>
            <a:ext cx="520940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5546" y="2091495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 구분 —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969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969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969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67570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67570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00450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00450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43333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84180" y="43333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25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656720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656720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656720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656720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050306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050306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15099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050306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08648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08648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09333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08648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166990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166990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267675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166990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25333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25333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26018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25333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28367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28367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384360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28367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748252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1995387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2951891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327171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3903819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279099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68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154119"/>
            <a:ext cx="16598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437867"/>
            <a:ext cx="34752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3721614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3721614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154119"/>
            <a:ext cx="168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437867"/>
            <a:ext cx="18509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3721614"/>
            <a:ext cx="3447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169297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46219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15411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154119"/>
            <a:ext cx="23382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43786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437867"/>
            <a:ext cx="33674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3721614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3721614"/>
            <a:ext cx="241496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82054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214641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546882"/>
            <a:ext cx="281917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546882"/>
            <a:ext cx="2050306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546882"/>
            <a:ext cx="5202652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1986234"/>
            <a:ext cx="9484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1885549"/>
            <a:ext cx="2819171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1885549"/>
            <a:ext cx="2050306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1885549"/>
            <a:ext cx="5202652" cy="57829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430162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430162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430162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430162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789423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789423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789423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789423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48684"/>
            <a:ext cx="214641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48684"/>
            <a:ext cx="2819171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48684"/>
            <a:ext cx="2050306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48684"/>
            <a:ext cx="5202652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365439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333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333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2282" y="4112054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2282" y="4359189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7231" y="4112054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7231" y="4359189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140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569765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1830630"/>
            <a:ext cx="291527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1830630"/>
            <a:ext cx="7605354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132684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132684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제37조 —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447896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447896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763108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763108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078319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078319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84922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393531"/>
            <a:ext cx="291527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393531"/>
            <a:ext cx="7605354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0420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9710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3663" y="640720"/>
            <a:ext cx="99311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675027"/>
            <a:ext cx="12622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096072"/>
            <a:ext cx="236114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517117"/>
            <a:ext cx="16332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2938162"/>
            <a:ext cx="14022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67502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675027"/>
            <a:ext cx="11095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09607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096072"/>
            <a:ext cx="17998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51711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517117"/>
            <a:ext cx="10784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293816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2938162"/>
            <a:ext cx="7761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4597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0194" y="6110730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6662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2967" y="640720"/>
            <a:ext cx="113480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1639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1153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0666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0180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8611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2529" y="5850867"/>
            <a:ext cx="50975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22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647567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9623" y="1949621"/>
            <a:ext cx="5731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53045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6477" y="2453045"/>
            <a:ext cx="5771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56468"/>
            <a:ext cx="9354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739" y="2956468"/>
            <a:ext cx="60374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59891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32" y="3459891"/>
            <a:ext cx="547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63315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490" y="3963315"/>
            <a:ext cx="56182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647567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1949621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899833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426550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14290"/>
            <a:ext cx="3326621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57421"/>
            <a:ext cx="3326621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1585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1585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1585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297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3297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3297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009" y="353969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5009" y="3814290"/>
            <a:ext cx="3338338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009" y="4057421"/>
            <a:ext cx="3338338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6853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976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976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976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2371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2371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2371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80684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80684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80684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0143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858090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150990"/>
            <a:ext cx="5394868" cy="3519204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설계도서가 없으면 대조할 기준이 없습니다 —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1995387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242522"/>
            <a:ext cx="360080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1995387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242522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969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3237641"/>
            <a:ext cx="4645225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3711" y="3237641"/>
            <a:ext cx="7317030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576308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3711" y="3576308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969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935569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3711" y="3935569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729" y="4294831"/>
            <a:ext cx="4645225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3711" y="4294831"/>
            <a:ext cx="7317030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관리사무소에서 사본 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9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457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41889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3694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489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4421708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277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14538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31459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46599" y="6631459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4260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세대 월패드 예비전원장치 미시공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설계도서에 있는 예비전원장치·홈게이트웨이가 실제로는 없습니다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537729"/>
            <a:ext cx="5168714" cy="756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 통신단자함을 개방해 장치 유무를 확인하고 준공도면과 대조합니다. 정전이 나면 월패드와 홈게이트웨이가 멈추므로, 외관상 아무 문제가 없어 보여도 실제로는 설계된 기능이 빠져 있는 상태입니다.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366090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67729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설계도서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677297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준공도면·물량내역서에 예비전원장치·홈게이트웨이가 기재되어 있을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96333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현장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963333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 통신단자함 개방 시 해당 장치가 존재하지 않을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249369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249369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정전 시 월패드·홈게이트웨이가 작동하지 않을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626936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938144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938144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표본 세대 통신단자함 개방 및 내부 촬영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224180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224180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준공도면·시방서 대조로 미시공 항목 특정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510216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510216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신청 시 세대 표본 수와 산정 방식 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 거실 통신단자함을 개방해 예비전원장치·홈게이트웨이 설치 여부를 확인하고, 준공도면·설계도서와 대조해 미시공 항목을 특정합니다.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기재된 장치가 현장에 없으면 미시공으로 보아 설치비 상당액을 산정합니다. 표본 세대 조사 결과를 전체 세대로 확장하는 방식과 그 근거를 감정신청서에 명시합니다.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전유부분 설비 하자로 존속기간이 짧습니다. 소송 초기에 단자함 개방 조사와 증거 보전을 집행해야 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8397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537729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132684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44389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443891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2992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29927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타일이 바탕면에서 떨어지지 않고 견디는 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01596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근거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015963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서울중앙지법 「2026 건설감정실무」 타일 하자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393531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704738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704738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3990774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3990774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276810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276810"/>
            <a:ext cx="5288691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뒤채움률과 부착강도가 기준에 못 미치는 정도가 곧 보수 범위를 정합니다. 부분 보수로 끝나는지 전면 재시공인지가 여기서 갈립니다.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5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347747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4274522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665873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1977081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1977081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263117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263117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49153"/>
            <a:ext cx="99513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49153"/>
            <a:ext cx="4379600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8965" y="2926720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829" y="3237927"/>
            <a:ext cx="3615667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5363747"/>
            <a:ext cx="3674533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설계도서에 적힌 방수층 두께와 파취 후 실측한 두께의 차이가 그대로 보수 범위가 됩니다. 계측기 눈금이 함께 찍힌 사진 한 장이 증거와 설명을 동시에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748252"/>
            <a:ext cx="7353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6716" y="1748252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004540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063" y="2004540"/>
            <a:ext cx="24523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260828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6840" y="2260828"/>
            <a:ext cx="9178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517117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9652" y="2517117"/>
            <a:ext cx="27574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2983927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 분류 —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425585"/>
            <a:ext cx="2612538" cy="648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969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969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969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199538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17845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42558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30957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333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333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333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081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1081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1081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828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828" y="4197435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8576" y="3767237"/>
            <a:ext cx="315673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576" y="3950300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576" y="4197435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원문 [표 8]은 원인마다 </a:t>
            </a:r>
            <a:r>
              <a:rPr sz="969" b="1">
                <a:solidFill>
                  <a:srgbClr val="111418"/>
                </a:solidFill>
                <a:latin typeface="Pretendard"/>
              </a:rPr>
              <a:t>발생 시기 · 규칙성 · 형태 · 변형 원인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대응시켜, 균열 형태만으로 원인을 좁힐 수 있게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표면처리로 합의하면 구조적 복원 없이 끝납니다. 담보책임 구간은 철근콘크리트공사 5년, 내력구조부 하자 10년입니다.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45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—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969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969" b="1">
                <a:solidFill>
                  <a:srgbClr val="0D2162"/>
                </a:solidFill>
                <a:latin typeface="Pretendard"/>
              </a:rPr>
              <a:t>12㎜</a:t>
            </a:r>
            <a:r>
              <a:rPr sz="969" b="0">
                <a:solidFill>
                  <a:srgbClr val="111418"/>
                </a:solidFill>
                <a:latin typeface="Pretendard"/>
              </a:rPr>
              <a:t> —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242522"/>
            <a:ext cx="3156739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1995387"/>
            <a:ext cx="315673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242522"/>
            <a:ext cx="2612538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2643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29256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29256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62135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62135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95015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395015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969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969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25765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산정 방식이 원문에 확정되어 있습니다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969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05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원문 예시 —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4361660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290941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275541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275541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60434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60434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393313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393313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26193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426193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3년</a:t>
            </a:r>
            <a:r>
              <a:rPr sz="969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48936"/>
            <a:ext cx="176198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48936"/>
            <a:ext cx="3395819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1848936"/>
            <a:ext cx="6932598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88288"/>
            <a:ext cx="81170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187603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187603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647549"/>
            <a:ext cx="71815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546864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546864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06810"/>
            <a:ext cx="9773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06126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06126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66072"/>
            <a:ext cx="102478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65387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65387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25333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624648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624648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084594"/>
            <a:ext cx="9914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983909"/>
            <a:ext cx="3395819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983909"/>
            <a:ext cx="6932598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969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40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82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060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748252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1418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3249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2963619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146682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785400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3968463"/>
            <a:ext cx="361952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40223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58530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36504"/>
            <a:ext cx="135594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44636" y="6022774"/>
            <a:ext cx="15906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651536"/>
            <a:ext cx="2135430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3894666"/>
            <a:ext cx="2135430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651536"/>
            <a:ext cx="214732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3894666"/>
            <a:ext cx="214732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37694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651536"/>
            <a:ext cx="2147146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3894666"/>
            <a:ext cx="2147146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969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99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09333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462198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09333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26018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64684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924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242522"/>
            <a:ext cx="2611943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5653"/>
            <a:ext cx="261194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196792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242522"/>
            <a:ext cx="2623659" cy="2685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9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485653"/>
            <a:ext cx="2623659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294674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331286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84180" y="331286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64166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4180" y="364166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969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3970466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84180" y="3970466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29926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4180" y="429926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969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39099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68612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97441"/>
            <a:ext cx="3420350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270933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감정서가 도착하면 이 네 가지를 먼저 봅니다 — 감정보완신청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2774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2774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6522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6522" y="3359207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0270" y="3148684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0270" y="3359207"/>
            <a:ext cx="320360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099" y="4128072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JL 자체 협력 진단업체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099" y="4347747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협력 진단업체 확인 후 업체명을 수록합니다 [확인 대기] · 확인 전까지는 협력 기술진 투입 체계로만 기술합니다.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363747"/>
            <a:ext cx="3684144" cy="6403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건설소송은 감정 결과가 곧 청구액입니다. 감정인 현장조사에 입회해 계측 기준 적용을 직접 확인하고, 협력 기술진이 같은 자리에서 검토합니다.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672720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169297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388972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2672720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—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25765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25765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0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정기 보고서 구성 —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761981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1830630"/>
            <a:ext cx="102002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211344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132684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526556"/>
            <a:ext cx="674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447896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41768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63108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56979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78319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472191"/>
            <a:ext cx="40164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393531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787403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708743"/>
            <a:ext cx="10200273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70405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4496200"/>
            <a:ext cx="126221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소장 접수 · 감정서 도착 · 판결 선고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84180" y="4496200"/>
            <a:ext cx="10623149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969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99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809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1416" y="2013693"/>
            <a:ext cx="5535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520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5286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4003" y="2013693"/>
            <a:ext cx="244525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84612"/>
            <a:ext cx="3080585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1995387"/>
            <a:ext cx="436147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178450"/>
            <a:ext cx="43614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425585"/>
            <a:ext cx="4361477" cy="3001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969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1995387"/>
            <a:ext cx="436166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178450"/>
            <a:ext cx="43616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425585"/>
            <a:ext cx="3600950" cy="432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74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969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969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109497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회수 이후 — 보수공사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475623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4180" y="3475623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0442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380442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969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969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13322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13322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06090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25765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06090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25765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969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969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271769"/>
            <a:ext cx="14421708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4338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8776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8156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996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0324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17297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574270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31243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70248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192216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224216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645261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1830630"/>
            <a:ext cx="1665873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1830630"/>
            <a:ext cx="2050306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1830630"/>
            <a:ext cx="8374219" cy="316332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211344"/>
            <a:ext cx="75000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132684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132684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526556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447896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447896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2841768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763108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763108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156979"/>
            <a:ext cx="8867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078319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078319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472191"/>
            <a:ext cx="7124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393531"/>
            <a:ext cx="2050306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393531"/>
            <a:ext cx="8374219" cy="330543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3855193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180988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4180" y="4180988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969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969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4465737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4180" y="4465737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969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736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1027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510270"/>
            <a:ext cx="84381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1720792"/>
            <a:ext cx="843810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25096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250960"/>
            <a:ext cx="855160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461483"/>
            <a:ext cx="855160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991650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2991650"/>
            <a:ext cx="108065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202173"/>
            <a:ext cx="1080657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732341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3732341"/>
            <a:ext cx="98094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3942863"/>
            <a:ext cx="980943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654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016073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57434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4663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19675"/>
            <a:ext cx="255647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530882"/>
            <a:ext cx="19474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750558"/>
            <a:ext cx="14421708" cy="422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43704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165672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40182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18215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401826"/>
            <a:ext cx="674770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4927399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14707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54342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54342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376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546882"/>
            <a:ext cx="3299711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546882"/>
            <a:ext cx="8662544" cy="355874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1986234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1885549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969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345495"/>
            <a:ext cx="2540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244810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969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704756"/>
            <a:ext cx="246549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604072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064018"/>
            <a:ext cx="1471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2963333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969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423279"/>
            <a:ext cx="11227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2270" y="3322594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782540"/>
            <a:ext cx="35030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2270" y="3681855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027" y="4141801"/>
            <a:ext cx="26397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2270" y="4041117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969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969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4501063"/>
            <a:ext cx="236627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2270" y="4400378"/>
            <a:ext cx="8662544" cy="378116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969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969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969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36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821405"/>
            <a:ext cx="507853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31927"/>
            <a:ext cx="507853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165" y="5821405"/>
            <a:ext cx="47279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5165" y="6031927"/>
            <a:ext cx="47279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26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461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37729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 서류 —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903855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1903855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32654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232654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56145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56145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— </a:t>
            </a:r>
            <a:r>
              <a:rPr sz="969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969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296347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 명단 — 채권양도에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329602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4180" y="3329602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5840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5840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4060424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 일정 — 미리 정해 주시면 맞춥니다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4426550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4180" y="4426550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4755349"/>
            <a:ext cx="151063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4180" y="4755349"/>
            <a:ext cx="1292205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5144072"/>
            <a:ext cx="446307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5363747"/>
            <a:ext cx="3684144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969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969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5144072"/>
            <a:ext cx="44513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5363747"/>
            <a:ext cx="3674533" cy="426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5470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12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075173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075173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534547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534547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774245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21405"/>
            <a:ext cx="175429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60072"/>
            <a:ext cx="17542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2032" y="5821405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2032" y="6160072"/>
            <a:ext cx="17828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0736" y="5821405"/>
            <a:ext cx="159795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736" y="6160072"/>
            <a:ext cx="15979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6456" y="5912936"/>
            <a:ext cx="150990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6456" y="6169225"/>
            <a:ext cx="150990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