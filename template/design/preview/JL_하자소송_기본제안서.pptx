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3697873"/>
            <a:ext cx="150532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3990774"/>
            <a:ext cx="9123863" cy="1059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0D2162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2880" b="1">
                <a:solidFill>
                  <a:srgbClr val="8F7033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5272216"/>
            <a:ext cx="11094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건설 전문 변호사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903783"/>
            <a:ext cx="102570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6224144"/>
            <a:ext cx="10257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6370" y="5903783"/>
            <a:ext cx="103595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6370" y="6224144"/>
            <a:ext cx="1035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173" y="5903783"/>
            <a:ext cx="163310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8173" y="6224144"/>
            <a:ext cx="16331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누적 수행 세대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501" y="5903783"/>
            <a:ext cx="133141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501" y="6224144"/>
            <a:ext cx="13314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2451" y="5995315"/>
            <a:ext cx="29769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수신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451" y="6187531"/>
            <a:ext cx="29769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0396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81864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15675"/>
            <a:ext cx="23926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688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3153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53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20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520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약 2년 6개월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520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2102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2102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2102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99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899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평균 93.28%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899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8648" y="5920373"/>
            <a:ext cx="4318457" cy="585092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416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538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47099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0796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4888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1934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567495"/>
            <a:ext cx="2338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05477"/>
            <a:ext cx="14421708" cy="5002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4"/>
              </a:lnSpc>
            </a:pPr>
            <a:r>
              <a:rPr sz="1939" b="1">
                <a:solidFill>
                  <a:srgbClr val="0D2162"/>
                </a:solidFill>
                <a:latin typeface="210 옴니고딕 050"/>
              </a:rPr>
              <a:t>시급성 · 전문성 · 일원화 —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0D2162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0D2162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0D2162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0D2162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—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4482482" cy="311278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18985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67639"/>
            <a:ext cx="295152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67639"/>
            <a:ext cx="295134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67639"/>
            <a:ext cx="29630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93599"/>
            <a:ext cx="118533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969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463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2461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8021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180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80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657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건설 전문 인력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657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3135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비용 선지급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3135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612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612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792" y="4604036"/>
            <a:ext cx="54353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5295" y="4604036"/>
            <a:ext cx="612217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2400" y="4604036"/>
            <a:ext cx="16958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832864"/>
            <a:ext cx="3525794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144072"/>
            <a:ext cx="35257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372972"/>
            <a:ext cx="8700987" cy="2530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공동주택 하자소송은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기술과 법률이 함께 걸린 사건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일은 법률 지식만으로 되지 않고, 찾아낸 것을 법정에서 받아내는 일은 기술만으로 되지 않습니다.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법무법인 제이엘은 하자조사부터 감정 대응, 소송, 회수까지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외주 없이 직접 수행</a:t>
            </a:r>
            <a:r>
              <a:rPr sz="1150" b="0">
                <a:solidFill>
                  <a:srgbClr val="111418"/>
                </a:solidFill>
                <a:latin typeface="Pretendard"/>
              </a:rPr>
              <a:t>해 왔습니다. 단독으로 수행해 판결에 이른 사건이 </a:t>
            </a:r>
            <a:r>
              <a:rPr sz="1150" b="1">
                <a:solidFill>
                  <a:srgbClr val="0D2162"/>
                </a:solidFill>
                <a:latin typeface="Pretendard"/>
              </a:rPr>
              <a:t>18건, 9,979세대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그 과정에서 확인한 것은, 입주자대표회의가 가장 힘들어하는 지점이 소송 자체가 아니라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착수 전 준비</a:t>
            </a:r>
            <a:r>
              <a:rPr sz="1150" b="0">
                <a:solidFill>
                  <a:srgbClr val="111418"/>
                </a:solidFill>
                <a:latin typeface="Pretendard"/>
              </a:rPr>
              <a:t>라는 사실이었습니다.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그래서 감정료와 소송비용을 법인이 부담하고, 채권양도 동의서 징구도 법인이 직접 맡습니다. 결과를 약속드리지는 않겠습니다. 다만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맡은 일은 끝까지 직접 하겠습니다.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4091459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5261" y="4091459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810" y="4385218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5261" y="4385218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4810" y="4678977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5261" y="4678977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4810" y="6242450"/>
            <a:ext cx="11606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7549" y="6169225"/>
            <a:ext cx="193534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0D2162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9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사무소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본사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서울 서초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388972"/>
            <a:ext cx="5596695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 서초구 서초대로53길 15 정원빌딩 4층</a:t>
            </a:r>
          </a:p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02-537-0123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서울중앙지방법원·서울고등법원 인접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분사무소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경기 화성 동탄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388972"/>
            <a:ext cx="5596695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경기 화성시 동탄순환대로 127-5 우성센트럴타워 914호</a:t>
            </a:r>
          </a:p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1899-4252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수원지방법원 관할 단지 대응 · www.jllawfirm.co.kr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25466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구성 — 하자소송은 세대 단위 사무 처리량이 결과를 좌우합니다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547561"/>
            <a:ext cx="1569765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4702" y="3547561"/>
            <a:ext cx="1954198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인원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801" y="3547561"/>
            <a:ext cx="856643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729" y="3849615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94702" y="3849615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7인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801" y="3849615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사건 수행 · 서면 작성 · 변론 · 감정 대응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164827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사무직원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94702" y="4164827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36명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3801" y="4164827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 서류 징구·검수 · 세대 명단 관리 · 송달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729" y="4480039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4702" y="4480039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3801" y="4480039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현장조사 입회 · 도면 대조 · 감정 항목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1,000세대 단지면 채권양도 서류가 1,000건입니다. 서명 확인·인적사항 대조·미회수 관리가 전부 수작업입니다.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9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37298"/>
            <a:ext cx="13394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07541"/>
            <a:ext cx="219071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37584"/>
            <a:ext cx="134057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0163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67711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677113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6771136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969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1995387"/>
            <a:ext cx="67711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78450"/>
            <a:ext cx="677113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25585"/>
            <a:ext cx="6771136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969" b="1">
                <a:solidFill>
                  <a:srgbClr val="0D2162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290941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무엇을 하는가 — 변호사가 못 하는 일입니다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220622"/>
            <a:ext cx="1377549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1639" y="3220622"/>
            <a:ext cx="10584706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659974"/>
            <a:ext cx="11040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1639" y="3559289"/>
            <a:ext cx="105847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969" b="1">
                <a:solidFill>
                  <a:srgbClr val="0D2162"/>
                </a:solidFill>
                <a:latin typeface="Pretendard"/>
              </a:rPr>
              <a:t>미시공·변경시공 항목을 특정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4019235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1639" y="3918550"/>
            <a:ext cx="105847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969" b="1">
                <a:solidFill>
                  <a:srgbClr val="0D2162"/>
                </a:solidFill>
                <a:latin typeface="Pretendard"/>
              </a:rPr>
              <a:t>계측 방법과 기준 적용</a:t>
            </a:r>
            <a:r>
              <a:rPr sz="969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4378496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감정서 검토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1639" y="4277811"/>
            <a:ext cx="105847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969" b="1">
                <a:solidFill>
                  <a:srgbClr val="0D2162"/>
                </a:solidFill>
                <a:latin typeface="Pretendard"/>
              </a:rPr>
              <a:t>감정보완신청 사유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969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969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9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8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377549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1830630"/>
            <a:ext cx="1058470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132684"/>
            <a:ext cx="137754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132684"/>
            <a:ext cx="105847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969" b="1">
                <a:solidFill>
                  <a:srgbClr val="0D2162"/>
                </a:solidFill>
                <a:latin typeface="Pretendard"/>
              </a:rPr>
              <a:t>좋은도시관리</a:t>
            </a:r>
            <a:r>
              <a:rPr sz="969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447896"/>
            <a:ext cx="137754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447896"/>
            <a:ext cx="105847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763108"/>
            <a:ext cx="137754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2763108"/>
            <a:ext cx="105847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건축 특급기술자 2인</a:t>
            </a:r>
            <a:r>
              <a:rPr sz="969" b="0">
                <a:solidFill>
                  <a:srgbClr val="111418"/>
                </a:solidFill>
                <a:latin typeface="Pretendard"/>
              </a:rPr>
              <a:t> 보유 —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4770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180" y="3645815"/>
            <a:ext cx="438490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180" y="3892950"/>
            <a:ext cx="438490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본 제안의 협력 영역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3129" y="3645815"/>
            <a:ext cx="438490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3129" y="3892950"/>
            <a:ext cx="438490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8078" y="3645815"/>
            <a:ext cx="43850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078" y="3892950"/>
            <a:ext cx="4385092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969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969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969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9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01369"/>
            <a:ext cx="238311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9027"/>
            <a:ext cx="38714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69549"/>
            <a:ext cx="387141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099" y="686486"/>
            <a:ext cx="9125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099" y="1006846"/>
            <a:ext cx="9125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092" y="686486"/>
            <a:ext cx="9352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6092" y="1006846"/>
            <a:ext cx="9352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86401" y="686486"/>
            <a:ext cx="1193021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86401" y="1006846"/>
            <a:ext cx="11930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85722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85722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85722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201626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201626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201626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4681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4681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4681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7735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7735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7735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7079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7079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7079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9384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9384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9384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6899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6899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6899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9953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9953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9953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63008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63008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63008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86062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86062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86062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9117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9117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9117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32171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32171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32171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55226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55226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55226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78280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78280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78280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501335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501335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501335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24389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24389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24389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47444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47444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47444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70498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70498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70498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962135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962135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962135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962135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CBB27E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8918"/>
            <a:ext cx="10489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025115" y="6658918"/>
            <a:ext cx="9656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782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407279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280815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40727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40727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46160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28756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28756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585729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585729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42702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42702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299675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299675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1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3494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1376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8527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요청하나 이행되지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41081"/>
            <a:ext cx="60117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8099" y="6004468"/>
            <a:ext cx="9007068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0572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5546" y="1377549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25369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25369"/>
            <a:ext cx="488804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사법(私法)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5546" y="1725369"/>
            <a:ext cx="520940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5546" y="2091495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유형 구분 —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969" b="1">
                <a:solidFill>
                  <a:srgbClr val="0D2162"/>
                </a:solidFill>
                <a:latin typeface="Pretendard"/>
              </a:rPr>
              <a:t>아예 시공되지 않은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969" b="1">
                <a:solidFill>
                  <a:srgbClr val="0D2162"/>
                </a:solidFill>
                <a:latin typeface="Pretendard"/>
              </a:rPr>
              <a:t>다른 자재·규격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시방 기준에 못 미치는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969" b="1">
                <a:solidFill>
                  <a:srgbClr val="0D2162"/>
                </a:solidFill>
                <a:latin typeface="Pretendard"/>
              </a:rPr>
              <a:t>설계 자체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30957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67570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기간이 갈린다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67570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00450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산정 방식이 갈린다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00450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433330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입증 방법이 갈린다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4180" y="433330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165636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2016 개정판 —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503959"/>
            <a:ext cx="119320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2408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7333" y="3581743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7333" y="3828878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2282" y="3581743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2282" y="3828878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7231" y="3581743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7231" y="3828878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969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969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969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9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9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무엇을 보고 하자라고 하는가 —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761981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30630"/>
            <a:ext cx="102002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211344"/>
            <a:ext cx="11227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132684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526556"/>
            <a:ext cx="11602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447896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중대한 기능·성능·안전상 시공기준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969" b="1">
                <a:solidFill>
                  <a:srgbClr val="0D2162"/>
                </a:solidFill>
                <a:latin typeface="Pretendard"/>
              </a:rPr>
              <a:t>낮은 경우 표준시방서를 우선</a:t>
            </a:r>
            <a:r>
              <a:rPr sz="969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41768"/>
            <a:ext cx="12968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763108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원칙적으로 하자 판단의 기준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56979"/>
            <a:ext cx="8117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78319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969" b="1">
                <a:solidFill>
                  <a:srgbClr val="0D2162"/>
                </a:solidFill>
                <a:latin typeface="Pretendard"/>
              </a:rPr>
              <a:t>적용 우선순위를 경우의 수로 나누어</a:t>
            </a:r>
            <a:r>
              <a:rPr sz="969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472191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393531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969" b="1">
                <a:solidFill>
                  <a:srgbClr val="0D2162"/>
                </a:solidFill>
                <a:latin typeface="Pretendard"/>
              </a:rPr>
              <a:t>한국토지주택공사 시방서</a:t>
            </a:r>
            <a:r>
              <a:rPr sz="969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969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우리가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969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9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9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25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656720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656720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656720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656720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050306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050306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150990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050306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08648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08648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09333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08648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166990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166990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267675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166990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25333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25333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26018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25333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28367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28367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384360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28367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748252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1995387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2951891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327171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3903819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279099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68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154119"/>
            <a:ext cx="16598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437867"/>
            <a:ext cx="34752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3721614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3721614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154119"/>
            <a:ext cx="168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437867"/>
            <a:ext cx="18509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3721614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3721614"/>
            <a:ext cx="3447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154119"/>
            <a:ext cx="23382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437867"/>
            <a:ext cx="33674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3721614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3721614"/>
            <a:ext cx="241496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82054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2146414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546882"/>
            <a:ext cx="281917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546882"/>
            <a:ext cx="2050306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546882"/>
            <a:ext cx="5202652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1986234"/>
            <a:ext cx="9484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1885549"/>
            <a:ext cx="2819171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1885549"/>
            <a:ext cx="2050306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1885549"/>
            <a:ext cx="5202652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금전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430162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430162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430162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430162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789423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789423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789423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789423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148684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148684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148684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148684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365439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333" y="4112054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333" y="4359189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2282" y="4112054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2282" y="4359189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차액은 손해배상으로 청구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7231" y="4112054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7231" y="4359189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140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569765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1830630"/>
            <a:ext cx="2915279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1830630"/>
            <a:ext cx="7605354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132684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132684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제37조 —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447896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447896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763108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2763108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세대별 채권양도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078319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078319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393531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393531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왜 필요한가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969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7555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969" b="1">
                <a:solidFill>
                  <a:srgbClr val="0D2162"/>
                </a:solidFill>
                <a:latin typeface="Pretendard"/>
              </a:rPr>
              <a:t>7,573건이 하자로 판정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969" b="1">
                <a:solidFill>
                  <a:srgbClr val="0D2162"/>
                </a:solidFill>
                <a:latin typeface="Pretendard"/>
              </a:rPr>
              <a:t>60일 이내 보수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25466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소송과 어떻게 다른가 — 헷갈리기 쉬운 부분입니다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8045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58045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969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86520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손해배상 소송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386520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969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4149953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함께 쓰는 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4180" y="4149953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969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969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969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94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0420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397101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3663" y="640720"/>
            <a:ext cx="99311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67502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675027"/>
            <a:ext cx="12622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09607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096072"/>
            <a:ext cx="236114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51711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517117"/>
            <a:ext cx="16332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293816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2938162"/>
            <a:ext cx="140226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67502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675027"/>
            <a:ext cx="11095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09607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096072"/>
            <a:ext cx="17998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51711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517117"/>
            <a:ext cx="10784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293816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2938162"/>
            <a:ext cx="7761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37657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4597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0194" y="6110730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6662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2967" y="640720"/>
            <a:ext cx="113480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1639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1153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0666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0180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8611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2529" y="5850867"/>
            <a:ext cx="50975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22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647567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9623" y="1949621"/>
            <a:ext cx="5731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53045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6477" y="2453045"/>
            <a:ext cx="5771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56468"/>
            <a:ext cx="9354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739" y="2956468"/>
            <a:ext cx="60374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59891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9932" y="3459891"/>
            <a:ext cx="547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63315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490" y="3963315"/>
            <a:ext cx="56182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647567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426550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일시적 현상이 아니라는 근거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969" b="1">
                <a:solidFill>
                  <a:srgbClr val="0D2162"/>
                </a:solidFill>
                <a:latin typeface="Pretendard"/>
              </a:rPr>
              <a:t>결로처럼 사용검사 후에 나타나는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무엇이 이행되지 않았는지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109497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814290"/>
            <a:ext cx="3326621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057421"/>
            <a:ext cx="3326621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1585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1585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1585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3297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3297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297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009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5009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009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감정신청서 항목으로 옮겨 근거로 붙임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6853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976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976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976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6673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6673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6673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2371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2371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2371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80684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80684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80684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0143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858090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150990"/>
            <a:ext cx="5394868" cy="3519204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858090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150990"/>
            <a:ext cx="5394868" cy="3519204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설계도서가 없으면 대조할 기준이 없습니다 —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242522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있어야 한다는 근거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1995387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242522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형별성능관계내역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1995387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242522"/>
            <a:ext cx="4361660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공사시방서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292643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237641"/>
            <a:ext cx="4645225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3711" y="3237641"/>
            <a:ext cx="7317030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576308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3711" y="3576308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969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935569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3711" y="3935569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294831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711" y="4294831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단지 보유 자료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관리사무소에서 사본 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969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9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457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41889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489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4421708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277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277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277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14538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31459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46599" y="6631459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4910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하심위 하자심사 신청 유형별 비율 ('21~'26.2 평균)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205030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1830630"/>
            <a:ext cx="118533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1830630"/>
            <a:ext cx="8854760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기능 불량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9657" y="2211344"/>
            <a:ext cx="583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132684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들뜸 및 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526556"/>
            <a:ext cx="5433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15.1%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447896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9657" y="2841768"/>
            <a:ext cx="5160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2763108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콘크리트 균열 —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결로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9657" y="3156979"/>
            <a:ext cx="51202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9.9%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3078319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누수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9657" y="3472191"/>
            <a:ext cx="4842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7.6%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9207" y="3393531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729" y="3708743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2360" y="3708743"/>
            <a:ext cx="118533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9207" y="3708743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102614"/>
            <a:ext cx="12592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657" y="4102614"/>
            <a:ext cx="49957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9207" y="4023954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설계와 다르게 시공된 것 — </a:t>
            </a:r>
            <a:r>
              <a:rPr sz="969" b="1">
                <a:solidFill>
                  <a:srgbClr val="0D2162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729" y="4339166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2360" y="4339166"/>
            <a:ext cx="118533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9207" y="4339166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11819" y="5125765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969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94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94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94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038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두 항목을 나눠서 봅니다 —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388972"/>
            <a:ext cx="5596695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정전 시 홈네트워크가 정지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별개 항목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388972"/>
            <a:ext cx="5596695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969" b="1">
                <a:solidFill>
                  <a:srgbClr val="0D2162"/>
                </a:solidFill>
                <a:latin typeface="Pretendard"/>
              </a:rPr>
              <a:t>세대단자함 또는 세대단말기(월패드)에 포함해</a:t>
            </a:r>
            <a:r>
              <a:rPr sz="969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969" b="1">
                <a:solidFill>
                  <a:srgbClr val="0D2162"/>
                </a:solidFill>
                <a:latin typeface="Pretendard"/>
              </a:rPr>
              <a:t>월패드 내장형도 적법한 시공 형태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54578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347479"/>
            <a:ext cx="118533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8576" y="3347479"/>
            <a:ext cx="4260792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4432" y="3347479"/>
            <a:ext cx="66442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28193"/>
            <a:ext cx="5793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①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8576" y="3649533"/>
            <a:ext cx="4260792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사업승인일</a:t>
            </a:r>
            <a:r>
              <a:rPr sz="969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4432" y="3649533"/>
            <a:ext cx="6644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4043405"/>
            <a:ext cx="5793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② 설계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8576" y="3964745"/>
            <a:ext cx="4260792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별도 장비로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432" y="3964745"/>
            <a:ext cx="6644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4358617"/>
            <a:ext cx="5793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③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8576" y="4279957"/>
            <a:ext cx="4260792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실제로 구현</a:t>
            </a:r>
            <a:r>
              <a:rPr sz="969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4432" y="4279957"/>
            <a:ext cx="6644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969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94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8397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537729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132684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44389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443891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29927"/>
            <a:ext cx="839344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29927"/>
            <a:ext cx="4361405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69" b="0">
                <a:solidFill>
                  <a:srgbClr val="0D2162"/>
                </a:solidFill>
                <a:latin typeface="Pretendard"/>
              </a:rPr>
              <a:t>0.39N/㎟ 미만이면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201315"/>
            <a:ext cx="839344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201315"/>
            <a:ext cx="4361405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69" b="0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764234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407544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4075441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361477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361477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647513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647513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969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5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347747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4274522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665873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197708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1977081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263117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263117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49153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49153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8965" y="2926720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8965" y="3237927"/>
            <a:ext cx="839344" cy="600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통일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829" y="3237927"/>
            <a:ext cx="3615667" cy="600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69" b="0">
                <a:solidFill>
                  <a:srgbClr val="0D2162"/>
                </a:solidFill>
                <a:latin typeface="Pretendard"/>
              </a:rPr>
              <a:t>4㎜ · 6㎜ · 벽 6㎜/바닥 10㎜</a:t>
            </a:r>
            <a:r>
              <a:rPr sz="969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8965" y="3894666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그래서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829" y="3894666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69" b="0">
                <a:solidFill>
                  <a:srgbClr val="0D2162"/>
                </a:solidFill>
                <a:latin typeface="Pretendard"/>
              </a:rPr>
              <a:t>설계도서에 무엇이 적혀 있는지 확인하는 것이 먼저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8965" y="4272234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829" y="4583441"/>
            <a:ext cx="3615667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748252"/>
            <a:ext cx="7353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6716" y="1748252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004540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063" y="2004540"/>
            <a:ext cx="24523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260828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6840" y="2260828"/>
            <a:ext cx="9178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517117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9652" y="2517117"/>
            <a:ext cx="27574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2773405"/>
            <a:ext cx="722512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0549" y="2773405"/>
            <a:ext cx="4247577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386666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원인 분류 —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969" b="1">
                <a:solidFill>
                  <a:srgbClr val="0D2162"/>
                </a:solidFill>
                <a:latin typeface="Pretendard"/>
              </a:rPr>
              <a:t>불충분한 다짐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969" b="1">
                <a:solidFill>
                  <a:srgbClr val="0D2162"/>
                </a:solidFill>
                <a:latin typeface="Pretendard"/>
              </a:rPr>
              <a:t>거푸집 조기 제거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30957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333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333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표면처리 공법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333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1081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1081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주입식 공법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1081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828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충전식 공법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828" y="4197435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8576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576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도포식 공법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8576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1819" y="5125765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969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969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969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45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—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원문 예시 —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969" b="1">
                <a:solidFill>
                  <a:srgbClr val="0D2162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969" b="1">
                <a:solidFill>
                  <a:srgbClr val="0D2162"/>
                </a:solidFill>
                <a:latin typeface="Pretendard"/>
              </a:rPr>
              <a:t>12㎜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사용검사 전의 변경시공</a:t>
            </a:r>
            <a:r>
              <a:rPr sz="969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242522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2643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29256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29256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62135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62135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95015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95015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969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969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산정 방식이 원문에 확정되어 있습니다 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969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05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원문 예시 —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4361660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290941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275541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원문의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4180" y="3275541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60434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실무상 의미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360434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393313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두께·등급 조사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393313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26193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결로 부위 조사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4180" y="426193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3년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48936"/>
            <a:ext cx="176198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48936"/>
            <a:ext cx="3395819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1848936"/>
            <a:ext cx="6932598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88288"/>
            <a:ext cx="8117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187603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187603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647549"/>
            <a:ext cx="71815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546864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546864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06810"/>
            <a:ext cx="97737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06126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06126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66072"/>
            <a:ext cx="102478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65387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65387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25333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624648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624648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084594"/>
            <a:ext cx="9914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983909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983909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038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개정으로 달라진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2026 개정판이 새로 기준을 세우거나 바꾼 항목입니다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1761981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546882"/>
            <a:ext cx="2338630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546882"/>
            <a:ext cx="7989787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1848936"/>
            <a:ext cx="1761981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1848936"/>
            <a:ext cx="2338630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969" b="1">
                <a:solidFill>
                  <a:srgbClr val="0D2162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1848936"/>
            <a:ext cx="7989787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예외적으로 표면처리 공법</a:t>
            </a:r>
            <a:r>
              <a:rPr sz="969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428159"/>
            <a:ext cx="12968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349500"/>
            <a:ext cx="2338630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969" b="1">
                <a:solidFill>
                  <a:srgbClr val="0D2162"/>
                </a:solidFill>
                <a:latin typeface="Pretendard"/>
              </a:rPr>
              <a:t>2014년 단가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349500"/>
            <a:ext cx="7989787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969" b="1">
                <a:solidFill>
                  <a:srgbClr val="0D2162"/>
                </a:solidFill>
                <a:latin typeface="Pretendard"/>
              </a:rPr>
              <a:t>노무 공량·노무비 단가는 소 제기 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2928722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2850063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2850063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인장 부착강도 0.39N/㎟ 미만이면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243934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165274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165274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969" b="1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027" y="3559146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액체방수 두께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7765" y="3480486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82990" y="3480486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통일 기준을 제시하지 않음.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할 수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874358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무늬코트 상도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7765" y="3795698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2990" y="3795698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수성싸인펜을 이용한 방식</a:t>
            </a:r>
            <a:r>
              <a:rPr sz="969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189569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방화문 성능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7765" y="4110909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2990" y="4110909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기준이 새로 생긴 항목은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신청 단계에서 그 기준으로 항목을 특정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해야 합니다. 2016년 방식으로 신청하면 개정된 기준이 적용되지 않을 수 있습니다.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액체방수처럼 </a:t>
            </a:r>
            <a:r>
              <a:rPr sz="969" b="1">
                <a:solidFill>
                  <a:srgbClr val="111418"/>
                </a:solidFill>
                <a:latin typeface="Pretendard"/>
              </a:rPr>
              <a:t>통일 기준이 없는 항목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감정인의 재량 폭이 큽니다. 어떤 기준을 적용할지가 현장조사 단계에서 결정됩니다.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일위대가가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기준으로 바뀌었습니다. 제소가 늦어지면 적용 단가 자체가 달라집니다.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9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9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403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1824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060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748252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14183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32490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2963619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146682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785400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3968463"/>
            <a:ext cx="361952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40223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58530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36504"/>
            <a:ext cx="135594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44636" y="6022774"/>
            <a:ext cx="15906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61194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294674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651536"/>
            <a:ext cx="2135430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3894666"/>
            <a:ext cx="2135430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651536"/>
            <a:ext cx="214732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3894666"/>
            <a:ext cx="214732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599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09333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09333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09333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26018"/>
            <a:ext cx="454124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64684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61194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294674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331286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4180" y="331286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64166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임차 세대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4180" y="364166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397046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84180" y="397046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29926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법인·기관 소유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4180" y="429926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969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969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270933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감정서가 도착하면 이 네 가지를 먼저 봅니다 — 감정보완신청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항목 누락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2774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계측 방법 오류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2774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6522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단가 적용 오류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6522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0270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수량 산출 오류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0270" y="3359207"/>
            <a:ext cx="320360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099" y="4128072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099" y="4347747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—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2672720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672720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2672720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—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CBB27E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25765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25765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정기 보고서 구성 —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761981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30630"/>
            <a:ext cx="102002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211344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132684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526556"/>
            <a:ext cx="674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447896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41768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763108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56979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78319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472191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393531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787403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708743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17040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496200"/>
            <a:ext cx="1262219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소장 접수 · 감정서 도착 · 판결 선고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496200"/>
            <a:ext cx="10623149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969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9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809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1416" y="2013693"/>
            <a:ext cx="5535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520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5286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4003" y="2013693"/>
            <a:ext cx="244525" cy="632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84612"/>
            <a:ext cx="3080585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채권압류·추심</a:t>
            </a:r>
            <a:r>
              <a:rPr sz="969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실익을 검토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109497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회수 이후 — 보수공사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475623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용도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4180" y="3475623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0442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순서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380442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969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969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13322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주의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413322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969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4338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8776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0324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17297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574270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31243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702486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192216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224216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645261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6658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1830630"/>
            <a:ext cx="205030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1830630"/>
            <a:ext cx="8374219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75000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132684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132684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447896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447896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2763108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2763108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078319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078319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393531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393531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법무법인 대납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969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협의 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969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36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1027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510270"/>
            <a:ext cx="84381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1720792"/>
            <a:ext cx="843810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25096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250960"/>
            <a:ext cx="855160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461483"/>
            <a:ext cx="8551607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99165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2991650"/>
            <a:ext cx="1080657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202173"/>
            <a:ext cx="1080657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732341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3732341"/>
            <a:ext cx="98094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3942863"/>
            <a:ext cx="9809434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654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016073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57434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4663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19675"/>
            <a:ext cx="255647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530882"/>
            <a:ext cx="19474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750558"/>
            <a:ext cx="14421708" cy="4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43704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65672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43704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165672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18215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40182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18215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401826"/>
            <a:ext cx="674770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27399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14707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4927399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14707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54342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54342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329971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546882"/>
            <a:ext cx="8662544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1986234"/>
            <a:ext cx="26397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1885549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보수 이력과 지출 내역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345495"/>
            <a:ext cx="2540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244810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969" b="1">
                <a:solidFill>
                  <a:srgbClr val="0D2162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704756"/>
            <a:ext cx="246549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604072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064018"/>
            <a:ext cx="14710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2963333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착수 전에 금액을 단정해 말씀드릴 수 없습니다.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423279"/>
            <a:ext cx="11227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2270" y="3322594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782540"/>
            <a:ext cx="35030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2270" y="3681855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이미 체결한 위임계약이 있으면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4141801"/>
            <a:ext cx="26397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2270" y="4041117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양도 이전에 매도한 세대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4501063"/>
            <a:ext cx="236627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2270" y="4400378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하자 상태를 감정으로 증명하기 어려워집니다.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821405"/>
            <a:ext cx="507853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31927"/>
            <a:ext cx="507853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5165" y="5821405"/>
            <a:ext cx="47279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5165" y="6031927"/>
            <a:ext cx="47279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① 서류 —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903855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1903855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3265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23265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56145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56145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296347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② 명단 — 채권양도에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32960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 명단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84180" y="332960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65840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소유권 변동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65840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406042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③ 일정 — 미리 정해 주시면 맞춥니다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442655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설명회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442655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75534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총회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475534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969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5470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942809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12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CBB27E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075173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075173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534547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534547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774245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21405"/>
            <a:ext cx="1754293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60072"/>
            <a:ext cx="175429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2032" y="5821405"/>
            <a:ext cx="178285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2032" y="6160072"/>
            <a:ext cx="17828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0736" y="5821405"/>
            <a:ext cx="159795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736" y="6160072"/>
            <a:ext cx="15979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6456" y="5912936"/>
            <a:ext cx="1509904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6456" y="6169225"/>
            <a:ext cx="150990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CBB27E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