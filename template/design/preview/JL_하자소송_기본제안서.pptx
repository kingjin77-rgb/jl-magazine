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9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6038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02570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0257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370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6370" y="6224144"/>
            <a:ext cx="1035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173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173" y="6224144"/>
            <a:ext cx="16331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501" y="5903783"/>
            <a:ext cx="133141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501" y="6224144"/>
            <a:ext cx="13314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451" y="5995315"/>
            <a:ext cx="29769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451" y="6187531"/>
            <a:ext cx="29769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0396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81864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15675"/>
            <a:ext cx="23926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688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3153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53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20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20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520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2102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2102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2102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99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899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899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8648" y="5920373"/>
            <a:ext cx="4318457" cy="585092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454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47099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0796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4888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1934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0D2162"/>
                </a:solidFill>
                <a:latin typeface="210 옴니고딕 050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4482482" cy="311278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18985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7639"/>
            <a:ext cx="295152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7639"/>
            <a:ext cx="295134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7639"/>
            <a:ext cx="29630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463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2461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8021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329441"/>
            <a:ext cx="54353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5295" y="4329441"/>
            <a:ext cx="6122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2400" y="4329441"/>
            <a:ext cx="16958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4955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73585"/>
            <a:ext cx="35257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253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공동주택 하자소송은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일은 법률 지식만으로 되지 않고, 찾아낸 것을 법정에서 받아내는 일은 기술만으로 되지 않습니다.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법무법인 제이엘은 하자조사부터 감정 대응, 소송, 회수까지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150" b="0">
                <a:solidFill>
                  <a:srgbClr val="111418"/>
                </a:solidFill>
                <a:latin typeface="Pretendard"/>
              </a:rPr>
              <a:t>해 왔습니다. 단독으로 수행해 판결에 이른 사건이 </a:t>
            </a:r>
            <a:r>
              <a:rPr sz="1150" b="1">
                <a:solidFill>
                  <a:srgbClr val="0D2162"/>
                </a:solidFill>
                <a:latin typeface="Pretendard"/>
              </a:rPr>
              <a:t>18건, 9,979세대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그 과정에서 확인한 것은, 입주자대표회의가 가장 힘들어하는 지점이 소송 자체가 아니라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착수 전 준비</a:t>
            </a:r>
            <a:r>
              <a:rPr sz="1150" b="0">
                <a:solidFill>
                  <a:srgbClr val="111418"/>
                </a:solidFill>
                <a:latin typeface="Pretendard"/>
              </a:rPr>
              <a:t>라는 사실이었습니다.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그래서 감정료와 소송비용을 법인이 부담하고, 채권양도 동의서 징구도 법인이 직접 맡습니다. 결과를 약속드리지는 않겠습니다. 다만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맡은 일은 끝까지 직접 하겠습니다.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4420972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5261" y="4420972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810" y="4714731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261" y="4714731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810" y="5008490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5261" y="5008490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810" y="6242450"/>
            <a:ext cx="11606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15747"/>
            <a:ext cx="682971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72036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7369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7369" y="2315747"/>
            <a:ext cx="682971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7369" y="2572036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구성 · 하자소송은 세대 단위 사무 처리량이 결과를 좌우합니다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885549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04540"/>
            <a:ext cx="2354190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3801" y="2004540"/>
            <a:ext cx="10414823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17463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17463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3801" y="2317463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642686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42686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801" y="2642686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2967909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67909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3801" y="2967909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6821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37298"/>
            <a:ext cx="13394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07541"/>
            <a:ext cx="21907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37584"/>
            <a:ext cx="134057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671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69297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361513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17801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00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37754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22846"/>
            <a:ext cx="10584706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0504"/>
            <a:ext cx="117636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79819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 항목을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853495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752810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계측 방법과 기준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226486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125801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감정보완신청 사유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03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37754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04540"/>
            <a:ext cx="105847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24900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24900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좋은도시관리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53842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53842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982783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2982783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건축 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5817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180" y="3888373"/>
            <a:ext cx="438490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180" y="4144662"/>
            <a:ext cx="438490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본 제안의 협력 영역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3129" y="3888373"/>
            <a:ext cx="438490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3129" y="4144662"/>
            <a:ext cx="438490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078" y="3888373"/>
            <a:ext cx="438509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078" y="4144662"/>
            <a:ext cx="4385092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38311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9027"/>
            <a:ext cx="38714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387141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099" y="686486"/>
            <a:ext cx="9125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099" y="1006846"/>
            <a:ext cx="9125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092" y="686486"/>
            <a:ext cx="9352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092" y="1006846"/>
            <a:ext cx="9352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6401" y="686486"/>
            <a:ext cx="1193021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86401" y="1006846"/>
            <a:ext cx="11930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85722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85722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85722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01626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01626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01626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4681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4681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4681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7735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7735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7735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079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079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079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384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384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384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6899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6899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6899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9953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9953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9953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08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08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08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6062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6062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6062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9117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9117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9117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32171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32171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32171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5226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5226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5226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8280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8280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8280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501335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501335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501335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24389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24389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24389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7444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7444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7444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70498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70498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70498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962135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962135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962135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962135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8918"/>
            <a:ext cx="10489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25115" y="6658918"/>
            <a:ext cx="9656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45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28756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28756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585729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585729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42702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42702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299675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299675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1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3494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1376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41081"/>
            <a:ext cx="6011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8099" y="6004468"/>
            <a:ext cx="9007068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54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546" y="1377549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2536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25369"/>
            <a:ext cx="488804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5546" y="1725369"/>
            <a:ext cx="520940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5546" y="2091495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03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16563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17524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12785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69297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25585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04540"/>
            <a:ext cx="102002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03560"/>
            <a:ext cx="1196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24900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32502"/>
            <a:ext cx="12365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53842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중대한 기능·성능·안전상 시공기준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낮은 경우 표준시방서를 우선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61443"/>
            <a:ext cx="138340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82783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원칙적으로 하자 판단의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90385"/>
            <a:ext cx="86241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11725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적용 우선순위를 경우의 수로 나누어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19326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40666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한국토지주택공사 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105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88654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91927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68576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59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83632"/>
            <a:ext cx="16598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67380"/>
            <a:ext cx="34752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051128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051128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83632"/>
            <a:ext cx="168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67380"/>
            <a:ext cx="18509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51128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51128"/>
            <a:ext cx="3447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83632"/>
            <a:ext cx="23382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67380"/>
            <a:ext cx="33674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051128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051128"/>
            <a:ext cx="241496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82054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590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01363"/>
            <a:ext cx="100922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24563"/>
            <a:ext cx="2819171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24563"/>
            <a:ext cx="2050306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24563"/>
            <a:ext cx="5202652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48867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48867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48867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48867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874090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874090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874090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874090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99313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99313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99313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99313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23531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379819"/>
            <a:ext cx="3652007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23531"/>
            <a:ext cx="44240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379819"/>
            <a:ext cx="365215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23531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379819"/>
            <a:ext cx="3652007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535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569765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04540"/>
            <a:ext cx="291527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04540"/>
            <a:ext cx="7605354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24900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24900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53842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53842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82783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982783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11725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11725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640666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640666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205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260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040" b="1">
                <a:solidFill>
                  <a:srgbClr val="0D2162"/>
                </a:solidFill>
                <a:latin typeface="Pretendard"/>
              </a:rPr>
              <a:t>7,573건이 하자로 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60일 이내 보수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3525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3525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0420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9710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3663" y="640720"/>
            <a:ext cx="99311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2622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4252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42522"/>
            <a:ext cx="236114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6356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63567"/>
            <a:ext cx="16332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8461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84612"/>
            <a:ext cx="14022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095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4252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42522"/>
            <a:ext cx="17998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6356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63567"/>
            <a:ext cx="10784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8461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84612"/>
            <a:ext cx="7761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4597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0194" y="6110730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0620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2967" y="640720"/>
            <a:ext cx="113480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1639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1153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0666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0180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8611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2529" y="5850867"/>
            <a:ext cx="50975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5997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9623" y="2004540"/>
            <a:ext cx="5731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507963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6477" y="2507963"/>
            <a:ext cx="5771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3011387"/>
            <a:ext cx="9354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739" y="3011387"/>
            <a:ext cx="60374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32" y="3514810"/>
            <a:ext cx="547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018234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490" y="4018234"/>
            <a:ext cx="56182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85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829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976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976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976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2371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2371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2371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80684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80684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80684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46692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9891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9891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69297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25585"/>
            <a:ext cx="436166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4545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4645225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22846"/>
            <a:ext cx="7317030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79819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379819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752810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752810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25801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25801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9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457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88654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59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277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14538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31459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46599" y="6631459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843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하심위 하자심사 신청 유형별 비율 ('21~'26.2 평균)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04540"/>
            <a:ext cx="885476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기능 불량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9657" y="2403560"/>
            <a:ext cx="617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24900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들뜸 및 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732502"/>
            <a:ext cx="5740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15.1%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653842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9657" y="3061443"/>
            <a:ext cx="5447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982783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9657" y="3390385"/>
            <a:ext cx="54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3311725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누수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9657" y="3719326"/>
            <a:ext cx="5105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7.6%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3640666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675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04540"/>
            <a:ext cx="885476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24900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24900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24900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13431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732502"/>
            <a:ext cx="5272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653842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2982783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2982783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982783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32684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24900"/>
            <a:ext cx="679456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81189"/>
            <a:ext cx="5596695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정전 시 홈네트워크가 정지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별개 항목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32684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24900"/>
            <a:ext cx="679456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581189"/>
            <a:ext cx="5596695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세대단자함 또는 세대단말기(월패드)에 포함해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월패드 내장형도 적법한 시공 형태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019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04540"/>
            <a:ext cx="4260792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04540"/>
            <a:ext cx="66442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24900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사업승인일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24900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653842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별도 장비로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653842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2982783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실제로 구현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2982783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26884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44576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44576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56815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56815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0D2162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35527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35527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78310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62058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62058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074297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074297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286536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286536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884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09049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090494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3419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34197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7789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77899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948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049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049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0D2162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419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334197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0D2162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4162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2980638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1601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7353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6716" y="1913009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69297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063" y="2169297"/>
            <a:ext cx="24523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25585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6840" y="2425585"/>
            <a:ext cx="9178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68187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9652" y="2681873"/>
            <a:ext cx="27574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938162"/>
            <a:ext cx="722512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0549" y="2938162"/>
            <a:ext cx="4247577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551423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563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00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12㎜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25585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13924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51452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51452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8574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8574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20043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20043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91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0663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0663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76198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22846"/>
            <a:ext cx="339581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22846"/>
            <a:ext cx="6932598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80504"/>
            <a:ext cx="86241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379819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379819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53495"/>
            <a:ext cx="76172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52810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752810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226486"/>
            <a:ext cx="104034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3125801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3125801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599477"/>
            <a:ext cx="109105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498792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498792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972468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871783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871783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345459"/>
            <a:ext cx="105554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4244774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4244774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052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32000"/>
            <a:ext cx="1761981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예외적으로 표면처리 공법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38682"/>
            <a:ext cx="138340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0022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2014년 단가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0022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노무 공량·노무비 단가는 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66704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88045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88045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인장 부착강도 0.39N/㎟ 미만이면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694727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616067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616067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5736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10659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통일 기준을 제시하지 않음.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할 수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439601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360941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360941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수성싸인펜을 이용한 방식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2768542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2689882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2689882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40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82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3084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8965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28376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11439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5015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33220"/>
            <a:ext cx="361952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566994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75005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36504"/>
            <a:ext cx="135594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44636" y="6022774"/>
            <a:ext cx="15906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85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47254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61200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16773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861200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16773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188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64252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26018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64684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0663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0663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902067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40049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105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52360"/>
            <a:ext cx="320360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02234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02234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02234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25765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25765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119870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04540"/>
            <a:ext cx="12406549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394264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17463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19487"/>
            <a:ext cx="7155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42686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44710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67909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69933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293132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695156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18355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20379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943578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1254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809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1416" y="2013693"/>
            <a:ext cx="5535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520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5286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4003" y="2013693"/>
            <a:ext cx="244525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84612"/>
            <a:ext cx="3080585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590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4338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8776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0324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17297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574270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31243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86918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88972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10018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6658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04540"/>
            <a:ext cx="837421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79614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24900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24900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53842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53842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982783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982783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11725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11725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640666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640666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8518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84381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843810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855160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855160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08065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080657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98094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980943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654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016073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57434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4663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55647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455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7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674770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28257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7192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41603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15279"/>
            <a:ext cx="26386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14594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288270"/>
            <a:ext cx="157049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187585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215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1196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981203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41603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14360"/>
            <a:ext cx="28257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13675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487351"/>
            <a:ext cx="25321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386666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4338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821405"/>
            <a:ext cx="507853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31927"/>
            <a:ext cx="507853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165" y="5821405"/>
            <a:ext cx="47279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5165" y="6031927"/>
            <a:ext cx="47279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076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076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2595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2595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3220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3076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3076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677297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1038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1038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0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30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082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12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075173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075173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534547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534547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774245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21405"/>
            <a:ext cx="175429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60072"/>
            <a:ext cx="17542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2032" y="5821405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2032" y="6160072"/>
            <a:ext cx="17828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0736" y="5821405"/>
            <a:ext cx="159795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736" y="6160072"/>
            <a:ext cx="15979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6456" y="5912936"/>
            <a:ext cx="150990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6456" y="6169225"/>
            <a:ext cx="150990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