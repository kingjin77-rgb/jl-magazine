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S02_Summary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S03_Contents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S03b_ThreeReasons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D1_Divider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S26_FirmOverview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S26a2_WhyDirect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S26b_ManagingPartner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S26b2_PartnerCareer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S26c_Offices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S26c2_TeamCapacity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S27_Attorneys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S27b_TechnicalStaff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S27b2_StaffRole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S27c_PartnerFirm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S28_TrackRecord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S29_Credentials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D2_Divider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S07b_WhatIsDefectSuit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S09_LegalStructure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S09b_DefectTypes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S09b2_TypeImportance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S09c_Revision2026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S09c2_RevisionBackground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S09d_JudgmentStandard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S09d2_DrawingFirst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S10_WarrantyPeriod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S11_AssignmentStructure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S12_ClaimTargets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S12b_ClaimRoutes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S12b2_RouteRelations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S12c_AssociationPowers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S12c2_AssignmentStart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S12d_DisputeCommittee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S12d2_VsLitigation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D3_Divider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S04_ComplexOverview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S04b_SiteFirstLook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S05_WarrantyTimeline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S06_DefectStats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S06b_ResidentData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S06b2_DataOrganize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S07_UnresolvedHistory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S08_AdVsActual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S08b_InfoDisclosure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S08b2_DisclosureScope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D4_Divider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S13_InspectionProcess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S13b_DefectOverview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S13b2_DefectMatrix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S13c_DefectStatistics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S13c2_DesignMismatch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S13d_BeforeFinish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S14_Wallpad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S14b_GatewaySteps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S15_TileBacking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S16_Waterproofing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S16b_StandardChange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S17_FireDoor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S17b_ConcreteCrack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S17b2_CrackRemedy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S17c_MortarThickness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S17d_Insulation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S17d2_CondensationCheck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S17e_CommonAreas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S17f_RevisedItems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S17g_RevisedItems2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S17h_FieldUnit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S17i_FieldCommon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S17j_Penetration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D5_Divider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S18_LitigationProcess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S18b_ProcessTimeline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S19_ConsentCollection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S19b_AssignmentPractice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S19b2_PracticeIssues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S20_AppraisalResponse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S20b_SupplementReasons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S20c_AppraisalScene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S21_ReportingSystem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S21b_ReportContents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S21b2_AdhocReport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S22_Timeline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S22b_AfterJudgment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S22b2_PostRepair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D6_Divider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S23_FeeTerms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S24_CostStructure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S24b_CostTiming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S24b2_CostBurden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S25_Disclaimer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D7_Divider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S30_FAQ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S30b_FAQ2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S30c_FAQ3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S31_NextSteps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S31b_Checklist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S31b2_ListSchedule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S32_Closing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Relationship Id="rId3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Relationship Id="rId3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830630"/>
            <a:ext cx="1631785" cy="375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JL LAWFIRM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2507963"/>
            <a:ext cx="9316079" cy="121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859"/>
              </a:lnSpc>
            </a:pPr>
            <a:r>
              <a:rPr sz="2880" b="1">
                <a:solidFill>
                  <a:srgbClr val="FFFFFF"/>
                </a:solidFill>
                <a:latin typeface="Pretendard"/>
              </a:rPr>
              <a:t>이스트힐아파트 입주자대표회의</a:t>
            </a:r>
          </a:p>
          <a:p>
            <a:pPr algn="l">
              <a:lnSpc>
                <a:spcPts val="3859"/>
              </a:lnSpc>
            </a:pPr>
            <a:r>
              <a:rPr sz="3740" b="1">
                <a:solidFill>
                  <a:srgbClr val="FFFFFF"/>
                </a:solidFill>
                <a:latin typeface="Pretendard"/>
              </a:rPr>
              <a:t>공동주택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3917549"/>
            <a:ext cx="6215723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건설 전문 변호사</a:t>
            </a:r>
            <a:r>
              <a:rPr sz="1190" b="0">
                <a:solidFill>
                  <a:srgbClr val="FFFFFF"/>
                </a:solidFill>
                <a:latin typeface="Pretendard"/>
              </a:rPr>
              <a:t>건축시공기술사</a:t>
            </a:r>
            <a:r>
              <a:rPr sz="1190" b="0">
                <a:solidFill>
                  <a:srgbClr val="FFFFFF"/>
                </a:solidFill>
                <a:latin typeface="Pretendard"/>
              </a:rPr>
              <a:t>감정료·인지대·송달료 전액 대납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14582" y="3926702"/>
            <a:ext cx="22187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EBD9B4"/>
                </a:solidFill>
                <a:latin typeface="Pretendard"/>
              </a:rPr>
              <a:t>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25771" y="3926702"/>
            <a:ext cx="22187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EBD9B4"/>
                </a:solidFill>
                <a:latin typeface="Pretendard"/>
              </a:rPr>
              <a:t>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5711567"/>
            <a:ext cx="1118332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Pretendard"/>
              </a:rPr>
              <a:t>18건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6068540"/>
            <a:ext cx="11183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단독 수행 판결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1800" y="5711567"/>
            <a:ext cx="1134258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Pretendard"/>
              </a:rPr>
              <a:t>328억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1800" y="6068540"/>
            <a:ext cx="113425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판결금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80404" y="5711567"/>
            <a:ext cx="1709809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Pretendard"/>
              </a:rPr>
              <a:t>9,979세대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80404" y="6068540"/>
            <a:ext cx="170980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누적 수행 세대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8656" y="5711567"/>
            <a:ext cx="1452239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Pretendard"/>
              </a:rPr>
              <a:t>93.28%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8656" y="6068540"/>
            <a:ext cx="14522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채권양도비율 평균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6188" y="5812252"/>
            <a:ext cx="321678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수신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6188" y="6031927"/>
            <a:ext cx="321678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13"/>
              </a:lnSpc>
            </a:pPr>
            <a:r>
              <a:rPr sz="1220" b="1">
                <a:solidFill>
                  <a:srgbClr val="FFFFFF"/>
                </a:solidFill>
                <a:latin typeface="Pretendard"/>
              </a:rPr>
              <a:t>이스트힐아파트 입주자대표회의 귀중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S0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738" y="512576"/>
            <a:ext cx="368981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PROPOSAL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738" y="869549"/>
            <a:ext cx="3049830" cy="1983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판결까지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직접 수행한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실적으로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738" y="3191018"/>
            <a:ext cx="3049830" cy="563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제이엘이 단독으로 수행해</a:t>
            </a:r>
          </a:p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판결에 이른 사건입니다.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738" y="6306522"/>
            <a:ext cx="263995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이스트힐아파트 입주자대표회의 귀중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0612" y="512576"/>
            <a:ext cx="982902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JL 단독 수행 실적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0612" y="906162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223D5B"/>
                </a:solidFill>
                <a:latin typeface="Pretendard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0612" y="1528576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612" y="1967927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외주 없이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직접 수행한 사건입니다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0612" y="2518833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2018~2021년 접수 사건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6882" y="906162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223D5B"/>
                </a:solidFill>
                <a:latin typeface="Pretendard"/>
              </a:rPr>
              <a:t>328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6882" y="1528576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억원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6882" y="1967927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법원이 인정한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하자보수비입니다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6882" y="2518833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32,836,812,673원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3153" y="906162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223D5B"/>
                </a:solidFill>
                <a:latin typeface="Pretendard"/>
              </a:rPr>
              <a:t>329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3153" y="1528576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만원 · 세대당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3153" y="1977081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세대 수로 나눈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실적 참고치입니다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53" y="2527986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328억 ÷ 9,979세대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5207" y="4278813"/>
            <a:ext cx="286182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1심 평균 소요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5207" y="4516795"/>
            <a:ext cx="2861824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223D5B"/>
                </a:solidFill>
                <a:latin typeface="Pretendard"/>
              </a:rPr>
              <a:t>약 2년 6개월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5207" y="4828002"/>
            <a:ext cx="2370616" cy="4402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절차가 전체 기간의 핵심 변수입니다.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2102" y="4278813"/>
            <a:ext cx="286182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비용 부담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2102" y="4516795"/>
            <a:ext cx="2370616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223D5B"/>
                </a:solidFill>
                <a:latin typeface="Pretendard"/>
              </a:rPr>
              <a:t>감정료·인지대·송달료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2102" y="5029371"/>
            <a:ext cx="2370616" cy="4402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착수 단계 비용을 법인이 전액 선지급합니다.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8997" y="4278813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채권양도비율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8997" y="4507641"/>
            <a:ext cx="2861824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223D5B"/>
                </a:solidFill>
                <a:latin typeface="Pretendard"/>
              </a:rPr>
              <a:t>평균 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8997" y="4818849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판결문에서 확인된 15건 기준입니다.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8648" y="5718146"/>
            <a:ext cx="4318457" cy="803498"/>
          </a:xfrm>
          <a:prstGeom prst="rect">
            <a:avLst/>
          </a:prstGeom>
          <a:noFill/>
        </p:spPr>
        <p:txBody>
          <a:bodyPr wrap="square" anchor="t" lIns="0" rIns="0" tIns="128144" bIns="0">
            <a:spAutoFit/>
          </a:bodyPr>
          <a:lstStyle/>
          <a:p>
            <a:pPr algn="l">
              <a:lnSpc>
                <a:spcPts val="1591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실적 기준 참고치이며, 개별 사건의 회수 금액과 기간은 감정 결과·법원 판단에 따라 달라질 수 있습니다. 판결금은 법원이 인정한 하자보수비이지 회수액이 아닙니다.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03_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6339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918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8"/>
              </a:lnSpc>
            </a:pPr>
            <a:r>
              <a:rPr sz="2590" b="1">
                <a:solidFill>
                  <a:srgbClr val="FFFFFF"/>
                </a:solidFill>
                <a:latin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556036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0 · 도입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74825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제안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199538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</a:t>
            </a:r>
            <a:r>
              <a:rPr sz="1080" b="0">
                <a:solidFill>
                  <a:srgbClr val="111418"/>
                </a:solidFill>
                <a:latin typeface="Pretendard"/>
              </a:rPr>
              <a:t>표지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제안 요약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6360" y="1556036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1 · 단지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6360" y="174825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현황과 담보책임기간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6360" y="199538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단지 현황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S5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6360" y="2256252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S6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 접수 집계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미이행 이력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6360" y="251711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S8</a:t>
            </a:r>
            <a:r>
              <a:rPr sz="1080" b="0">
                <a:solidFill>
                  <a:srgbClr val="111418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2987360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2 · 법적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317957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근거 법령과 청구 구조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342671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이원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S10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68757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S11</a:t>
            </a:r>
            <a:r>
              <a:rPr sz="1080" b="0">
                <a:solidFill>
                  <a:srgbClr val="111418"/>
                </a:solidFill>
                <a:latin typeface="Pretendard"/>
              </a:rPr>
              <a:t>채권양도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청구 대상 3축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6360" y="2987360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3 · 하자 발굴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6360" y="317957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JL이 찾아내는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6360" y="342671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S13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하자조사 절차 90일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S14</a:t>
            </a:r>
            <a:r>
              <a:rPr sz="1080" b="0">
                <a:solidFill>
                  <a:srgbClr val="111418"/>
                </a:solidFill>
                <a:latin typeface="Pretendard"/>
              </a:rPr>
              <a:t>월패드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6360" y="368757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S15</a:t>
            </a:r>
            <a:r>
              <a:rPr sz="1080" b="0">
                <a:solidFill>
                  <a:srgbClr val="111418"/>
                </a:solidFill>
                <a:latin typeface="Pretendard"/>
              </a:rPr>
              <a:t>타일 뒤채움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방수 부족시공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방화문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15781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4 · 수행 계획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35003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소송 절차와 지원 체계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459717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S18</a:t>
            </a:r>
            <a:r>
              <a:rPr sz="1080" b="0">
                <a:solidFill>
                  <a:srgbClr val="111418"/>
                </a:solidFill>
                <a:latin typeface="Pretendard"/>
              </a:rPr>
              <a:t>소송 절차 11단계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S19</a:t>
            </a:r>
            <a:r>
              <a:rPr sz="1080" b="0">
                <a:solidFill>
                  <a:srgbClr val="111418"/>
                </a:solidFill>
                <a:latin typeface="Pretendard"/>
              </a:rPr>
              <a:t>동의서 징구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485803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S20</a:t>
            </a:r>
            <a:r>
              <a:rPr sz="1080" b="0">
                <a:solidFill>
                  <a:srgbClr val="111418"/>
                </a:solidFill>
                <a:latin typeface="Pretendard"/>
              </a:rPr>
              <a:t>감정 대응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보고 체계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전체 일정표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6360" y="415781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5 · 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6360" y="435003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수임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6360" y="459717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보수 조건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비용 부담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S25</a:t>
            </a:r>
            <a:r>
              <a:rPr sz="1080" b="0">
                <a:solidFill>
                  <a:srgbClr val="111418"/>
                </a:solidFill>
                <a:latin typeface="Pretendard"/>
              </a:rPr>
              <a:t>유의사항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32827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6 · 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520495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767630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법인 개요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담당 변호사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486" y="6028495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S28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하자소송 수행 실적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자격·보험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6360" y="532827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7 · 마무리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6360" y="5520495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다음 단계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6360" y="5767630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S30</a:t>
            </a:r>
            <a:r>
              <a:rPr sz="1080" b="0">
                <a:solidFill>
                  <a:srgbClr val="111418"/>
                </a:solidFill>
                <a:latin typeface="Pretendard"/>
              </a:rPr>
              <a:t>예상 질의응답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S03b_Three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196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8F7033"/>
                </a:solidFill>
                <a:latin typeface="Pretendard"/>
              </a:rPr>
              <a:t>제안의 세 가지 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8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01"/>
              </a:lnSpc>
            </a:pPr>
            <a:r>
              <a:rPr sz="2520" b="1">
                <a:solidFill>
                  <a:srgbClr val="223D5B"/>
                </a:solidFill>
                <a:latin typeface="Pretendard"/>
              </a:rPr>
              <a:t>시급성 · 전문성 · 일원화 · 이 세 가지로 제안을 구성했습니다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74342"/>
            <a:ext cx="449419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94018"/>
            <a:ext cx="4494198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시급성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815023"/>
            <a:ext cx="370967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3420847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마감공사 </a:t>
            </a:r>
            <a:r>
              <a:rPr sz="1010" b="1">
                <a:solidFill>
                  <a:srgbClr val="223D5B"/>
                </a:solidFill>
                <a:latin typeface="Pretendard"/>
              </a:rPr>
              <a:t>2년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·기능상 </a:t>
            </a:r>
            <a:r>
              <a:rPr sz="1010" b="1">
                <a:solidFill>
                  <a:srgbClr val="223D5B"/>
                </a:solidFill>
                <a:latin typeface="Pretendard"/>
              </a:rPr>
              <a:t>3년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구간이 먼저 도과합니다. </a:t>
            </a:r>
            <a:r>
              <a:rPr sz="1010" b="1">
                <a:solidFill>
                  <a:srgbClr val="C0392B"/>
                </a:solidFill>
                <a:latin typeface="Pretendard"/>
              </a:rPr>
              <a:t>도과한 항목은 감정에서 되살아나지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3909111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전에 발생한 미시공·변경시공 하자는 </a:t>
            </a:r>
            <a:r>
              <a:rPr sz="1010" b="1">
                <a:solidFill>
                  <a:srgbClr val="223D5B"/>
                </a:solidFill>
                <a:latin typeface="Pretendard"/>
              </a:rPr>
              <a:t>5년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구간에 남습니다.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4397375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14건 합산 기준 보수비의 </a:t>
            </a:r>
            <a:r>
              <a:rPr sz="1010" b="1">
                <a:solidFill>
                  <a:srgbClr val="223D5B"/>
                </a:solidFill>
                <a:latin typeface="Pretendard"/>
              </a:rPr>
              <a:t>66.4%</a:t>
            </a:r>
            <a:r>
              <a:rPr sz="1010" b="0">
                <a:solidFill>
                  <a:srgbClr val="111418"/>
                </a:solidFill>
                <a:latin typeface="Pretendard"/>
              </a:rPr>
              <a:t>가 이 5년 구간에서 나왔습니다.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5123" y="1574342"/>
            <a:ext cx="408432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5123" y="1794018"/>
            <a:ext cx="4084320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전문성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5123" y="2815023"/>
            <a:ext cx="3373444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사진에 보이지 않는 하자를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123" y="3420847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 두께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실측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타일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뒤채움률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방화문 </a:t>
            </a:r>
            <a:r>
              <a:rPr sz="1010" b="1">
                <a:solidFill>
                  <a:srgbClr val="223D5B"/>
                </a:solidFill>
                <a:latin typeface="Pretendard"/>
              </a:rPr>
              <a:t>KS 성능시험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외관만으로는 드러나지 않는 항목입니다.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5123" y="3909111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준공도면·시방서 대조와 관할 지자체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정보공개청구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설계도서 기준을 확보합니다.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5123" y="4397375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대한변호사협회 </a:t>
            </a:r>
            <a:r>
              <a:rPr sz="1010" b="1">
                <a:solidFill>
                  <a:srgbClr val="223D5B"/>
                </a:solidFill>
                <a:latin typeface="Pretendard"/>
              </a:rPr>
              <a:t>건설 전문변호사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등록, 사무장 </a:t>
            </a:r>
            <a:r>
              <a:rPr sz="1010" b="1">
                <a:solidFill>
                  <a:srgbClr val="223D5B"/>
                </a:solidFill>
                <a:latin typeface="Pretendard"/>
              </a:rPr>
              <a:t>건축시공기술사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7453" y="1574342"/>
            <a:ext cx="448248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7453" y="1794018"/>
            <a:ext cx="4482482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일원화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7453" y="2815023"/>
            <a:ext cx="370006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7453" y="3420847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 · 채권양도 · 소 제기 · 감정 대응 · 보고를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나누지 않습니다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7453" y="3909111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7453" y="4397375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월 1회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정기 보고 + 소장 접수·감정 개시·감정서 도착·선고 시점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수시 보고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5336288"/>
            <a:ext cx="3377198" cy="415187"/>
          </a:xfrm>
          <a:prstGeom prst="rect">
            <a:avLst/>
          </a:prstGeom>
          <a:noFill/>
        </p:spPr>
        <p:txBody>
          <a:bodyPr wrap="square" anchor="t" lIns="237981" rIns="237981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법무법인 제이엘</a:t>
            </a:r>
          </a:p>
          <a:p>
            <a:pPr algn="l">
              <a:lnSpc>
                <a:spcPts val="1512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단독 수행 실적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4896" y="5258486"/>
            <a:ext cx="295152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하자소송 판결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4896" y="5450702"/>
            <a:ext cx="2951525" cy="521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5780" y="5258486"/>
            <a:ext cx="295134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총 판결금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5780" y="5450702"/>
            <a:ext cx="2951342" cy="521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328억원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6521" y="5258486"/>
            <a:ext cx="296305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세대당 평균 판결금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521" y="5450702"/>
            <a:ext cx="2963058" cy="521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329만원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64423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실적은 판결문으로 확인된 JL 단독 수행 18건(9,979세대) 기준입니다. 세대당 평균은 32,836,812,673원 ÷ 9,979세대 = 3,290,592원으로 산정한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실적 기준 참고치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이며, 개별 단지의 인정 금액은 감정 결과와 책임제한 비율에 따라 달라집니다.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D1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445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5333359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138743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THE 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3525977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누가 이 사건을 수행하는가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법인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대표변호사 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담당 변호사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5080000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하자소송 수행 실적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226450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473585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자격 · 보험 · 조직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62003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S26_Firm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법인 개요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하자소송을 조사부터 판결까지 직접 수행해 온 법인입니다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0558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Pretendard"/>
              </a:rPr>
              <a:t>18건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58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단독 수행 판결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0868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Pretendard"/>
              </a:rPr>
              <a:t>9,979세대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0868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누적 수행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1117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Pretendard"/>
              </a:rPr>
              <a:t>328억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177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판결금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148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Pretendard"/>
              </a:rPr>
              <a:t>93.28%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1487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채권양도비율 평균(15건)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179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Pretendard"/>
              </a:rPr>
              <a:t>66.4%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1797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사용검사 전 하자 발굴 비중(14건)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2974774"/>
            <a:ext cx="311573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단지 규모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194450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94 ~ 1,066세대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3432432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소규모부터 대단지까지 전 구간을 수행했습니다.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4810" y="2974774"/>
            <a:ext cx="311573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사건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4810" y="3194450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입대의 + 관리단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4810" y="3432432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입주자대표회의뿐 아니라 집합건물 관리단 사건도 수행합니다.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3135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심급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3135" y="3185297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1심 + 항소심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3135" y="3423279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1심에서 끝나지 않는 사건도 항소심까지 이어서 수행합니다.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59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지역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59" y="3185297"/>
            <a:ext cx="311573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전국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59" y="3414126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수도권·대구·경북·충남·전남 등 전국 단지를 수행했습니다.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59207" y="5047820"/>
            <a:ext cx="1077802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사무소 두 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59207" y="5331568"/>
            <a:ext cx="7274926" cy="3574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4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서초 본사와 동탄 분사무소에서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관할을 나누어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수도권·충청 단지를 맡습니다.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S26a2_WhyDi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771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직접 수행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외주 없이 조사부터 회수까지 법인이 직접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8180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외주 없이 직접 수행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하자조사·감정 대응·소송·회수까지 법인이 직접 맡습니다.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5657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건설 전문 인력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5657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사무장이 조사·감정 대응을 기술적으로 뒷받침합니다.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3135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비용 선지급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3135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감정료·인지대·송달료를 전액 대납해 착수 부담을 없앱니다.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0612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동의서 징구 대행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0612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입주자대표회의의 최대 실무 부담을 법인이 직접 처리합니다.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792" y="4118918"/>
            <a:ext cx="593929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주사무소(서초)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서울 서초구 서초대로53길 15 정원빌딩 4층 · 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5445" y="4118918"/>
            <a:ext cx="668399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분사무소(동탄)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경기 화성시 동탄순환대로 127-5 우성센트럴타워 914호 · 1899-4252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792" y="4338594"/>
            <a:ext cx="201241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www.jllawfirm.co.kr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하자소송은 서면만으로 되지 않습니다. 세대 단위 서류 처리량과 현장 대응이 결과를 좌우합니다.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변호사 7인 · 사무직원 36명 구성이며, 사무장은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건축시공기술사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도면을 읽는 인력이 법인 안에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설명회·서류 징구는 단지 일정에 맞춰야 합니다. 총회 일정이 정해지면 미리 알려 주십시오.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3729" y="3089046"/>
            <a:ext cx="1180903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같은 자리에서 봅니다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53729" y="3372793"/>
            <a:ext cx="7274926" cy="3574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4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변호사와 건축시공기술사가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한자리에서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도면과 현장을 함께 검토합니다.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S26b_ManagingPart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70428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MANAGING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대표변호사 인사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162378"/>
            <a:ext cx="3525794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223D5B"/>
                </a:solidFill>
                <a:latin typeface="Pretendard"/>
              </a:rPr>
              <a:t>박종일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5464432"/>
            <a:ext cx="352579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대표변호사 · 공인회계사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4810" y="1702486"/>
            <a:ext cx="8700987" cy="346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하자소송은 </a:t>
            </a:r>
            <a:r>
              <a:rPr sz="1300" b="1">
                <a:solidFill>
                  <a:srgbClr val="223D5B"/>
                </a:solidFill>
                <a:latin typeface="Pretendard"/>
              </a:rPr>
              <a:t>기술과 법률이 함께 걸린 사건</a:t>
            </a:r>
            <a:r>
              <a:rPr sz="1300" b="0">
                <a:solidFill>
                  <a:srgbClr val="111418"/>
                </a:solidFill>
                <a:latin typeface="Pretendard"/>
              </a:rPr>
              <a:t>입니다. 도면에 있는데 시공되지 않은 것을 찾아내는 일, 즉 하자를 찾는 일은 법률 지식만으로 되지 않고, 하자를 법원에서 인정받아 손해배상금까지 받아내는 일은 기술만으로는 되지 않습니다.</a:t>
            </a:r>
          </a:p>
          <a:p>
            <a:pPr algn="l">
              <a:lnSpc>
                <a:spcPts val="2527"/>
              </a:lnSpc>
            </a:pPr>
          </a:p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법무법인 제이엘은 소송 전 하자진단부터 소 제기 이후 감정 신청 및 보완, 대응, 판결금 회수까지 </a:t>
            </a:r>
            <a:r>
              <a:rPr sz="1300" b="1">
                <a:solidFill>
                  <a:srgbClr val="223D5B"/>
                </a:solidFill>
                <a:latin typeface="Pretendard"/>
              </a:rPr>
              <a:t>외주 없이 직접 수행</a:t>
            </a:r>
            <a:r>
              <a:rPr sz="1300" b="0">
                <a:solidFill>
                  <a:srgbClr val="111418"/>
                </a:solidFill>
                <a:latin typeface="Pretendard"/>
              </a:rPr>
              <a:t>합니다. 담당 변호사가 처음부터 끝까지 맡아 판결에 이른 사건이 </a:t>
            </a:r>
            <a:r>
              <a:rPr sz="1300" b="1">
                <a:solidFill>
                  <a:srgbClr val="223D5B"/>
                </a:solidFill>
                <a:latin typeface="Pretendard"/>
              </a:rPr>
              <a:t>20건, [세대수 확인]세대</a:t>
            </a:r>
            <a:r>
              <a:rPr sz="1300" b="0">
                <a:solidFill>
                  <a:srgbClr val="111418"/>
                </a:solidFill>
                <a:latin typeface="Pretendard"/>
              </a:rPr>
              <a:t>입니다.</a:t>
            </a:r>
          </a:p>
          <a:p>
            <a:pPr algn="l">
              <a:lnSpc>
                <a:spcPts val="2527"/>
              </a:lnSpc>
            </a:pPr>
          </a:p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그 과정에서 확인한 것이 있습니다. 입주민들이 가장 힘들어하는 지점은 소송 자체가 아니라, 소송 전 </a:t>
            </a:r>
            <a:r>
              <a:rPr sz="1300" b="1">
                <a:solidFill>
                  <a:srgbClr val="223D5B"/>
                </a:solidFill>
                <a:latin typeface="Pretendard"/>
              </a:rPr>
              <a:t>‘무엇을 어떻게 어디서부터’ 준비하느냐</a:t>
            </a:r>
            <a:r>
              <a:rPr sz="1300" b="0">
                <a:solidFill>
                  <a:srgbClr val="111418"/>
                </a:solidFill>
                <a:latin typeface="Pretendard"/>
              </a:rPr>
              <a:t>의 문제였습니다. 그래서 감정료와 소송비용은 저희 법인이 </a:t>
            </a:r>
            <a:r>
              <a:rPr sz="1300" b="1">
                <a:solidFill>
                  <a:srgbClr val="223D5B"/>
                </a:solidFill>
                <a:latin typeface="Pretendard"/>
              </a:rPr>
              <a:t>선부담</a:t>
            </a:r>
            <a:r>
              <a:rPr sz="1300" b="0">
                <a:solidFill>
                  <a:srgbClr val="111418"/>
                </a:solidFill>
                <a:latin typeface="Pretendard"/>
              </a:rPr>
              <a:t>합니다. 채권양도 동의서 징구도 법인이 직접 맡습니다.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4810" y="5317409"/>
            <a:ext cx="8700987" cy="652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6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결과를 약속드리지는 않겠습니다.</a:t>
            </a:r>
          </a:p>
          <a:p>
            <a:pPr algn="l">
              <a:lnSpc>
                <a:spcPts val="2376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다만 맡은 일은 끝까지 직접 하겠습니다.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4810" y="6233297"/>
            <a:ext cx="127283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92577" y="6178378"/>
            <a:ext cx="190330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대표변호사 박종일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S26b2_PartnerCare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1188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MANAGING PARTNER · 약력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검사와 공인회계사 경력을 하자소송 판단에 씁니다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경력 · 그 경력이 이 사건에서 쓰이는 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631495"/>
            <a:ext cx="3549226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22"/>
              </a:lnSpc>
            </a:pPr>
            <a:r>
              <a:rPr sz="2020" b="1">
                <a:solidFill>
                  <a:srgbClr val="223D5B"/>
                </a:solidFill>
                <a:latin typeface="Pretendard"/>
              </a:rPr>
              <a:t>박종일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4988468"/>
            <a:ext cx="354922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법무법인 제이엘 대표변호사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5427819"/>
            <a:ext cx="354922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학력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5656648"/>
            <a:ext cx="2107070" cy="3804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성균관대학교 졸업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서울대학교 대학원 경영학과 수료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6504" y="2068612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2468" y="2068612"/>
            <a:ext cx="9993046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2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사법고시 38회 · 사법연수원 28기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2468" y="2379819"/>
            <a:ext cx="999304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 하자 사건을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집합건물법과 공동주택관리법 두 축</a:t>
            </a:r>
            <a:r>
              <a:rPr sz="1120" b="0">
                <a:solidFill>
                  <a:srgbClr val="111418"/>
                </a:solidFill>
                <a:latin typeface="Pretendard"/>
              </a:rPr>
              <a:t>으로 나누어 구성합니다.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6504" y="3113073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2468" y="3113073"/>
            <a:ext cx="9993046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2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제21회 공인회계사 · 회계법인 근무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2468" y="3424280"/>
            <a:ext cx="999304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감정서의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단가 적용과 수량 산출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직접 검산합니다. 감정보완신청 사유의 절반이 이 두 가지입니다.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6504" y="4157533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2468" y="4157533"/>
            <a:ext cx="9993046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2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수원·광주·부산지방검찰청 부장검사 역임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2468" y="4468740"/>
            <a:ext cx="999304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사실관계를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증거로 세우는 순서</a:t>
            </a:r>
            <a:r>
              <a:rPr sz="1120" b="0">
                <a:solidFill>
                  <a:srgbClr val="111418"/>
                </a:solidFill>
                <a:latin typeface="Pretendard"/>
              </a:rPr>
              <a:t>를 기준으로 조사 단계를 설계합니다.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6504" y="5201994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2468" y="5201994"/>
            <a:ext cx="9993046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2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JB금융지주 사외이사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2468" y="5513201"/>
            <a:ext cx="999304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 의결과 회계 처리 등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단지 내부 절차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관한 검토를 함께 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경력 사항은 법인 소개 자료 기재분입니다. 각 항목의 설명은 해당 경력이 하자소송 수행에서 어떻게 쓰이는지를 적은 것으로, 개별 사건의 결과를 보장하는 표현이 아닙니다.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S26c_Off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5501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사무소 안내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본사와 동탄 분사무소 두 곳에서 관할을 나누어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사무소 두 곳 · 관할 법원에 맞춰 나누어 맡습니다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4466738"/>
            <a:ext cx="66305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HEAD OFFICE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4677261"/>
            <a:ext cx="6630544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서울 서초 본사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792" y="5025081"/>
            <a:ext cx="5462144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 서초구 서초대로53길 15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정원빌딩 4층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5555677"/>
            <a:ext cx="6630544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02-537-0123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792" y="5866885"/>
            <a:ext cx="6630544" cy="461233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서울중앙지방법원·서울고등법원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 인접해 있어 변론기일과 기록 열람에 바로 대응합니다.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7207" y="4466738"/>
            <a:ext cx="66305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BRANCH OFFICE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7207" y="4677261"/>
            <a:ext cx="6630544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경기 화성 동탄 분사무소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7207" y="5025081"/>
            <a:ext cx="5462144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경기 화성시 동탄순환대로 127-5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우성센트럴타워 914호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7207" y="5555677"/>
            <a:ext cx="6630544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1899-4252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7207" y="5866885"/>
            <a:ext cx="6630544" cy="461233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수원지방법원 관할 단지</a:t>
            </a:r>
            <a:r>
              <a:rPr sz="969" b="0">
                <a:solidFill>
                  <a:srgbClr val="111418"/>
                </a:solidFill>
                <a:latin typeface="Pretendard"/>
              </a:rPr>
              <a:t>를 맡습니다. 설명회·서류 징구를 위해 단지로 직접 방문합니다.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주소·연락처는 법인 등록 사항입니다. 홈페이지 www.jllawfirm.co.kr · 단지 방문 일정은 총회·설명회 일정에 맞춰 조정합니다.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S26c2_Team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인력 구성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하자소송의 결과는 세대 단위 사무 처리량이 좌우합니다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인원 구성 · 점 하나가 한 사람입니다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50306"/>
            <a:ext cx="393585" cy="521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36"/>
              </a:lnSpc>
            </a:pPr>
            <a:r>
              <a:rPr sz="2740" b="1">
                <a:solidFill>
                  <a:srgbClr val="223D5B"/>
                </a:solidFill>
                <a:latin typeface="Pretendar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0637" y="2187603"/>
            <a:ext cx="73060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5838" y="2224216"/>
            <a:ext cx="2747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3057153"/>
            <a:ext cx="7075753" cy="339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사건 수행 · 서면 작성 · 변론 · </a:t>
            </a:r>
            <a:r>
              <a:rPr sz="1080" b="1">
                <a:solidFill>
                  <a:srgbClr val="223D5B"/>
                </a:solidFill>
                <a:latin typeface="Pretendard"/>
              </a:rPr>
              <a:t>감정 대응</a:t>
            </a:r>
            <a:r>
              <a:rPr sz="1080" b="0">
                <a:solidFill>
                  <a:srgbClr val="111418"/>
                </a:solidFill>
                <a:latin typeface="Pretendard"/>
              </a:rPr>
              <a:t>을 맡습니다.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1603" y="2050306"/>
            <a:ext cx="698934" cy="521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36"/>
              </a:lnSpc>
            </a:pPr>
            <a:r>
              <a:rPr sz="2740" b="1">
                <a:solidFill>
                  <a:srgbClr val="223D5B"/>
                </a:solidFill>
                <a:latin typeface="Pretendard"/>
              </a:rPr>
              <a:t>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98218" y="2187603"/>
            <a:ext cx="93124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사무직원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64865" y="2224216"/>
            <a:ext cx="2747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1603" y="3679567"/>
            <a:ext cx="7075753" cy="339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채권양도 서류 </a:t>
            </a:r>
            <a:r>
              <a:rPr sz="1080" b="1">
                <a:solidFill>
                  <a:srgbClr val="223D5B"/>
                </a:solidFill>
                <a:latin typeface="Pretendard"/>
              </a:rPr>
              <a:t>징구·검수</a:t>
            </a:r>
            <a:r>
              <a:rPr sz="1080" b="0">
                <a:solidFill>
                  <a:srgbClr val="111418"/>
                </a:solidFill>
                <a:latin typeface="Pretendard"/>
              </a:rPr>
              <a:t> · 세대 명단 관리 · 송달 관리를 맡습니다.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4318000"/>
            <a:ext cx="219016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건축시공기술사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9981" y="4318000"/>
            <a:ext cx="12172229" cy="339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법인 내부 기술 인력입니다. </a:t>
            </a:r>
            <a:r>
              <a:rPr sz="1080" b="1">
                <a:solidFill>
                  <a:srgbClr val="223D5B"/>
                </a:solidFill>
                <a:latin typeface="Pretendard"/>
              </a:rPr>
              <a:t>현장조사 입회 · 도면 대조 · 감정 항목 검토</a:t>
            </a:r>
            <a:r>
              <a:rPr sz="1080" b="0">
                <a:solidFill>
                  <a:srgbClr val="111418"/>
                </a:solidFill>
                <a:latin typeface="Pretendard"/>
              </a:rPr>
              <a:t>를 변호사와 같은 자리에서 수행합니다.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1,000세대 단지면 채권양도 서류가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1,000건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서명 확인·인적사항 대조·미회수 관리가 전부 수작업입니다.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변호사 수보다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징구를 감당할 인력이 있는가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실제 회수율을 좌우합니다. 사무직원 36명 구성입니다.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설명회와 서류 징구는 단지 일정에 맞춰야 합니다. 총회 일정이 정해지면 미리 알려 주십시오.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S27_Attorne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18207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ASSOCIATE ATTORNEYS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대표변호사와 함께 5인의 변호사가 이 사건을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87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87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이지훈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87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873" y="5054113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세무사 · 건설 변호사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873" y="5289235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신한·하나은행 법률자문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873" y="5524356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경기주택도시공사 법률고문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884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884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장우진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884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8843" y="5054113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서울중앙지검·고등검찰청 공익법무관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8843" y="5487744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서울중앙지방법원 민사조정위원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781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781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임준규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781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7813" y="5054113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형사법 전문 · 서울지방국세청 송무국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7813" y="5487744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EY한영회계법인 세무본부 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6782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6782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하혜용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7467" y="4846451"/>
            <a:ext cx="146505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제10회 변호사시험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6782" y="5054113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충북대학교 법학전문대학원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7467" y="5316694"/>
            <a:ext cx="1325140" cy="3527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대한변호사협회 건설 전문변호사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5752" y="4224323"/>
            <a:ext cx="25043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5752" y="4425692"/>
            <a:ext cx="2504302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오현진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6436" y="4846737"/>
            <a:ext cx="146249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제14회 변호사시험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5752" y="5054399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헌법재판소 실무수습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5752" y="5289521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사법연수원 재판실무심화연수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S27b_Technical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1645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전문 사무장 · 기술 인력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도면을 읽는 사람이 법인 안에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자격 보유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67711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사무장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677113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박성제 · 건축시공기술사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677113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국가기술자격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건축시공기술사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한국기술사회 정회원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828" y="2196756"/>
            <a:ext cx="677113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기술 인력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2407279"/>
            <a:ext cx="677113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최경석 · 건축 특급기술자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691027"/>
            <a:ext cx="677113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건축기사 · 「건설기술 진흥법」상 건설기술경력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건축 특급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9413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법인 안에서 도면을 읽습니다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206838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건축시공기술사가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준공도면과 시방서를 직접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검토합니다. 외주 진단업체에 맡기지 않습니다.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5837" y="59413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현장에서 대조합니다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5837" y="6206838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도면에 적힌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배관 간격과 경로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현장에서 그대로 확인합니다. 실제 조사 사례입니다.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S27b2_Staff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717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전문 사무장의 역할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사무장은 변호사가 놓치기 쉬운 도면 대조·현장 입회를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무엇을 하는가 · 변호사가 못 하는 일입니다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50306"/>
            <a:ext cx="1377549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1639" y="2050306"/>
            <a:ext cx="10584706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기술 인력이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535423"/>
            <a:ext cx="820122" cy="3781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조사 · 감정 신청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1639" y="2416432"/>
            <a:ext cx="10584706" cy="637608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준공도면·시방서·내역서를 실제로 읽고 현장과 대조해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미시공·변경시공 항목을 특정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한 뒤, 감정 항목을 공종 단위로 구체화합니다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3134954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현장조사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1639" y="3015963"/>
            <a:ext cx="10584706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감정인 조사에 입회해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계측 방법과 기준 적용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그 자리에서 확인합니다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521675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감정서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1639" y="3402684"/>
            <a:ext cx="10584706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항목 누락·계측 오류·단가 적용·수량 산출을 검증해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감정보완신청 사유</a:t>
            </a:r>
            <a:r>
              <a:rPr sz="1120" b="0">
                <a:solidFill>
                  <a:srgbClr val="111418"/>
                </a:solidFill>
                <a:latin typeface="Pretendard"/>
              </a:rPr>
              <a:t>를 정리합니다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하자소송에서 다투는 것은 대부분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기술적 사실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두께가 몇 ㎜인지, 뒤채움이 얼마나 부족한지, 어떤 공법이 맞는지는 법률 지식만으로 판단할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2026 개정판이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감정인 재량을 넓혔기 때문에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기술 인력의 역할이 더 커졌습니다. 어떤 기준이 적용되는지가 현장조사 자리에서 정해집니다.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조사 단계에서 빠진 항목은 감정에서 되살리기 어렵습니다.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착수 시점에 기술 인력이 함께 들어가야</a:t>
            </a:r>
            <a:r>
              <a:rPr sz="1120" b="0">
                <a:solidFill>
                  <a:srgbClr val="111418"/>
                </a:solidFill>
                <a:latin typeface="Pretendard"/>
              </a:rPr>
              <a:t> 하는 이유입니다.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국가기술자격증·건설기술경력증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 개인정보가 포함되어 있어 제안서에는 자격 사실만 기재했습니다.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S27c_PartnerFi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5546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점검 협력업체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하자 점검과 건축자문은 ㈜좋은도시관리와 함께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업체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1651228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1639" y="2032000"/>
            <a:ext cx="12875191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352360"/>
            <a:ext cx="1651228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상호 · 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1639" y="2352360"/>
            <a:ext cx="1287519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주식회사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좋은도시관리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대표이사 조성찬 · 2020년 7월 설립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2695031"/>
            <a:ext cx="1651228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소재지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1639" y="2695031"/>
            <a:ext cx="1287519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서울특별시 서초구 남부순환로 2457, 205호 (서초동, 보성빌딩)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3037702"/>
            <a:ext cx="1651228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기술 인력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1639" y="3037702"/>
            <a:ext cx="1287519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건축 특급기술자 2인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보유 · 건축(설계·시공) · 품질관리 특급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526824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사업 영역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873" y="3957022"/>
            <a:ext cx="4431773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건설사업관리 · 하자진단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873" y="4222463"/>
            <a:ext cx="44317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 점검과 건축자문을 담당하는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본 제안의 협력 영역</a:t>
            </a:r>
            <a:r>
              <a:rPr sz="101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4823" y="3957022"/>
            <a:ext cx="44317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정비사업전문관리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4823" y="4204157"/>
            <a:ext cx="44317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재건축·재개발 정비사업 전문관리업.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9772" y="3957022"/>
            <a:ext cx="443195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부동산개발 · 공공지원 민간임대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9772" y="4222463"/>
            <a:ext cx="44319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개발 및 임대주택 사업.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건축기술사·특급기술자가 하자 점검과 건축자문을 수행합니다. 법인 내부 기술 인력과 협력업체가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같은 자리에서 함께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건축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특급기술자 2인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배치되며, 건축(설계·시공)과 품질관리 두 분야 모두 특급입니다.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현장조사는 단지 일정과 감정 기일에 맞춰야 합니다. 착수가 정해지면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조사 인력 일정을 먼저 잡습니다.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법인등기부·사업자등록증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S28_Track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62128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54450"/>
            <a:ext cx="42629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4126"/>
            <a:ext cx="4262989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21"/>
              </a:lnSpc>
            </a:pPr>
            <a:r>
              <a:rPr sz="1939" b="1">
                <a:solidFill>
                  <a:srgbClr val="FFFFFF"/>
                </a:solidFill>
                <a:latin typeface="Pretendard"/>
              </a:rPr>
              <a:t>단독으로 판결까지 수행한 18건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97789" y="686486"/>
            <a:ext cx="946436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97789" y="997693"/>
            <a:ext cx="9464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EBD9B4"/>
                </a:solidFill>
                <a:latin typeface="Pretendard"/>
              </a:rPr>
              <a:t>누적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88829" y="686486"/>
            <a:ext cx="101215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328억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88829" y="997693"/>
            <a:ext cx="101215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EBD9B4"/>
                </a:solidFill>
                <a:latin typeface="Pretendard"/>
              </a:rPr>
              <a:t>판결금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3520" y="686486"/>
            <a:ext cx="129590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329만원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3520" y="997693"/>
            <a:ext cx="129590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EBD9B4"/>
                </a:solidFill>
                <a:latin typeface="Pretendard"/>
              </a:rPr>
              <a:t>세대당 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414" y="152857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사건번호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5387" y="1528576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단지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5138" y="1528576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세대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3963" y="152857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판결금(원)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949" y="1528576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세대당(원)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1776569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5387" y="1776569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미사강변2차푸르지오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5138" y="1776569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1,066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03963" y="1776569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3,453,345,785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949" y="1776569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3,239,536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414" y="1997961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5387" y="1997961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이지더원2차 에듀그린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5138" y="1997961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03963" y="1997961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4,592,574,765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949" y="1997961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5,102,861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414" y="222850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95387" y="2228506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가락마을16단지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5138" y="2228506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03963" y="2228506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1,344,902,393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949" y="2228506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2,904,757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414" y="2449898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95387" y="2449898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경북도청우방아이유쉘1차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5138" y="2449898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3963" y="2449898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1,999,334,282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949" y="2449898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4,523,381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414" y="2671290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2019가합1*****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95387" y="2671290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가재마을3단지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5138" y="2671290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03963" y="2671290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1,545,971,961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949" y="2671290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2,765,603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414" y="2892682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95387" y="2892682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힐스테이트은파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5138" y="2892682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3963" y="2892682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1,252,700,693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949" y="2892682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2,789,979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2414" y="3114074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95387" y="3114074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양덕코오롱하늘채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5138" y="3114074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3963" y="3114074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1,425,762,466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949" y="3114074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2,665,000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414" y="333546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95387" y="3335466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우성KTX타워 관리단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5138" y="3335466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03963" y="333546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316,008,868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949" y="3335466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3,361,796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414" y="3566011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2019가합2*****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95387" y="3566011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대구혁신도시서한이다음2차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5138" y="3566011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03963" y="3566011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930,800,781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949" y="3566011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2,169,699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2414" y="37874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95387" y="378740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수원성균관대역 동문굿모닝힐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15138" y="378740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699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03963" y="37874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1,286,000,000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949" y="378740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1,839,771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414" y="40179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2021나1**** 항소심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95387" y="401794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가재마을10단지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15138" y="401794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03963" y="40179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1,250,767,772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949" y="401794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2,868,733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2414" y="4248493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95387" y="4248493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대진유토피아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15138" y="4248493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284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03963" y="4248493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1,109,825,889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949" y="4248493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3,907,838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2414" y="446988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2018가합5*****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95387" y="4469885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아산더샵레이크시티2차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15138" y="4469885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03963" y="446988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2,576,151,449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949" y="4469885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3,236,371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2414" y="469127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2018가합3*****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95387" y="4691277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신촌푸르지오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15138" y="4691277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03963" y="469127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1,135,061,108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58949" y="4691277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1,207,512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2414" y="4912668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95387" y="4912668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신안실크밸리스카이시티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15138" y="4912668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03963" y="4912668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3,129,096,298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058949" y="4912668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3,960,881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2414" y="5134060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95387" y="5134060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예산행정타운 신동아파밀리에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15138" y="5134060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603963" y="5134060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2,131,590,488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58949" y="5134060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4,613,832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2414" y="536460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2020가합6*****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5387" y="5364605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한국아델리움중해마루힐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15138" y="5364605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3963" y="5364605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2,028,172,698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58949" y="5364605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8,974,215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2414" y="558599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2021가합5*****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95387" y="5585997"/>
            <a:ext cx="8469961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태안동문이테크코아루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15138" y="5585997"/>
            <a:ext cx="90140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03963" y="5585997"/>
            <a:ext cx="1885549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1,328,744,977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58949" y="5585997"/>
            <a:ext cx="1510636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223D5B"/>
                </a:solidFill>
                <a:latin typeface="Pretendard"/>
              </a:rPr>
              <a:t>3,248,766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995387" y="5833990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합계 18건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15138" y="5833990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603963" y="5833990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32,836,812,673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58949" y="5833990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EBD9B4"/>
                </a:solidFill>
                <a:latin typeface="Pretendard"/>
              </a:rPr>
              <a:t>3,290,592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2576" y="6279063"/>
            <a:ext cx="1442170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9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사건번호는 대한변호사협회 광고 규정 확인 전까지 마스킹해 표기합니다 [확인 대기]. 판결금은 법원이 인정한 하자보수비이며, 책임제한(확인된 7건 기준 70~85%) 적용 전 금액입니다. 개별 사건의 결과를 보장하지 않습니다.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2576" y="6654342"/>
            <a:ext cx="11492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98259" y="6654342"/>
            <a:ext cx="112803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S29_Credent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7460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자격 · 보험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건설 전문성과 배상 안전장치를 함께 갖췄습니다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80504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건설 전문분야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36792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 분야 전문 소송 수행 등록을 마친 법인입니다.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137672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 하자소송 수행 18건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792" y="335548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 관리단 사건 수행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57330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1심·항소심 모두 수행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2480504"/>
            <a:ext cx="42443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배상책임보험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8048" y="2727639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수임 사건 수행 과정의 배상책임에 대비한 보험에 가입되어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8048" y="334633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의뢰인 손해에 대한 담보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3564152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 기간 유지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1304" y="2480504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건축시공기술사 사무장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1304" y="2736792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자격을 갖춘 사무장이 조사·감정 대응을 기술적으로 뒷받침합니다.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1304" y="335548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설계도서 대조 실무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1304" y="357330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현장조사 입회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1304" y="379112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감정보완신청 항목 검토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551423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사건 수행 조직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414" y="3890090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역할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1513" y="3890090"/>
            <a:ext cx="1191447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담당 업무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89" y="4237909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주심 변호사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8288" y="4237909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전략 수립, 서면 작성, 변론기일 출석, 입주자대표회의 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604036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협력 변호사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8288" y="4604036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쟁점별 검토, 감정 결과 분석, 청구취지변경신청서 작성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9189" y="4970162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건축시공기술사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8288" y="4970162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하자조사, 설계도서 대조, 감정인 현장조사 입회, 감정 결과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189" y="5336288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사무직원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8288" y="5336288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채권양도 동의서 접수·정리, 자료 관리, 진행 상황 안내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등록증·보험증서 사본은 요청 시 제출합니다.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D2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7837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5333359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하자소송의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269633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LEGAL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3456596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무엇을 근거로 청구하는가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05301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하자소송이란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27387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74522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집합건물법과 공동주택관리법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20972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6810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1455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506169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채권양도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20814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455279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청구 대상 3축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60172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S07b_WhatIsDefectS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82902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WHAT IS A DEFECT LAWSUIT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하자소송은 "고쳐 달라"가 아니라 "고칠 돈을 달라"는 소송입니다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11853333" cy="585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31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공동주택에 하자가 있으면 시공사에 보수를 요구할 수 있습니다. 그런데 보수가 이행되지 않거나 부실하게 끝나는 경우가 많습니다. 이때 구분소유자는 </a:t>
            </a:r>
            <a:r>
              <a:rPr sz="1150" b="1">
                <a:solidFill>
                  <a:srgbClr val="223D5B"/>
                </a:solidFill>
                <a:latin typeface="Pretendard"/>
              </a:rPr>
              <a:t>보수에 갈음하는 손해배상</a:t>
            </a:r>
            <a:r>
              <a:rPr sz="1150" b="0">
                <a:solidFill>
                  <a:srgbClr val="111418"/>
                </a:solidFill>
                <a:latin typeface="Pretendard"/>
              </a:rPr>
              <a:t>, 즉 하자를 고치는 데 드는 비용을 돈으로 청구할 수 있습니다. 이것이 하자소송입니다.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하자 발생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미시공·변경시공·부실시공 및 사용 중 발생 하자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714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보수 요구 · 미이행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714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관리사무소가 시공사에 요청했으나 이행되지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171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하자조사 · 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171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도면 대조로 하자를 특정하고 구분소유자 채권을 양도받습니다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28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소송 · 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286" y="2562882"/>
            <a:ext cx="272434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법원 감정으로 보수비를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0855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판결 · 회수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0855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인정된 금액을 회수해 보수공사에 사용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792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왜 입주자대표회의가 원고인가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792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손해배상청구권은 각 구분소유자에게 있습니다. 세대별 개별 소송은 현실적으로 불가능하므로, 채권을 양도받아 입주자대표회의 명의로 한 건의 소송을 수행합니다.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2041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왜 기한이 중요한가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2041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존속기간은 공종별로 2·3·5·10년입니다. 기간이 지나면 그 공종은 청구할 수 없습니다. 그래서 사용검사일 확인이 첫 단계입니다.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9290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왜 감정이 핵심인가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9290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청구액은 법원 감정으로 확정됩니다. 조사에서 빠진 항목은 감정에서 다투기 어렵습니다. 소송의 승부는 감정 전에 갈립니다.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58" y="6036504"/>
            <a:ext cx="64749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E6ECF9"/>
                </a:solidFill>
                <a:latin typeface="Pretendard"/>
              </a:rPr>
              <a:t>한 줄로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4282" y="6004468"/>
            <a:ext cx="9911583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기한 안에 · 하자를 빠짐없이 찾아내고 · 세대 동의를 최대한 모아 · 법원 감정에서 지켜내는 것. 이 네 가지가 회수 금액을 결정합니다.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S09_Legal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511734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LEGAL BASIS · TWO STATUTES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집합건물법과 공동주택관리법이 함께 적용됩니다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53" y="1377549"/>
            <a:ext cx="2002552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2304" y="1377549"/>
            <a:ext cx="4854260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집합건물의 소유 및 관리에 관한 법률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3367" y="1377549"/>
            <a:ext cx="5243197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공동주택관리법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153" y="1734522"/>
            <a:ext cx="2002552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2304" y="1734522"/>
            <a:ext cx="4854260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사법 성격 · 담보책임·손해배상의 근거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367" y="1734522"/>
            <a:ext cx="5243197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행정 규율 · 하자보수 절차·보증금·분쟁조정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153" y="2091495"/>
            <a:ext cx="2002552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핵심 조문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2304" y="2091495"/>
            <a:ext cx="4854260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제9조(담보책임) · 제9조의2(존속기간)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3367" y="2091495"/>
            <a:ext cx="5243197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제36조 · 제37조 · 제38조 · 제39조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002234"/>
            <a:ext cx="206714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1703" y="3011387"/>
            <a:ext cx="1182404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3533117"/>
            <a:ext cx="84611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3761945"/>
            <a:ext cx="1208582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5783" y="3130378"/>
            <a:ext cx="1908066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5783" y="3322594"/>
            <a:ext cx="2350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121225"/>
            <a:ext cx="1625233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EBD9B4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981" y="3313441"/>
            <a:ext cx="15873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6054" y="3130378"/>
            <a:ext cx="138487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322594"/>
            <a:ext cx="161351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5783" y="3862630"/>
            <a:ext cx="179548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5783" y="4054846"/>
            <a:ext cx="176564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981" y="3862630"/>
            <a:ext cx="1569033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3981" y="4054846"/>
            <a:ext cx="146834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6054" y="3862630"/>
            <a:ext cx="1748069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6054" y="4054846"/>
            <a:ext cx="14613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7171" y="4915243"/>
            <a:ext cx="3005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7171" y="5144072"/>
            <a:ext cx="428385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171" y="5446126"/>
            <a:ext cx="717277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60504" y="4979315"/>
            <a:ext cx="42122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0504" y="5180684"/>
            <a:ext cx="413283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0504" y="5446126"/>
            <a:ext cx="295523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3002234"/>
            <a:ext cx="206714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1703" y="3011387"/>
            <a:ext cx="1182404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5639" y="3533117"/>
            <a:ext cx="84611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5639" y="3761945"/>
            <a:ext cx="1208582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5783" y="3130378"/>
            <a:ext cx="1908066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5783" y="3322594"/>
            <a:ext cx="2350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3981" y="3121225"/>
            <a:ext cx="1625233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EBD9B4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33981" y="3313441"/>
            <a:ext cx="15873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6054" y="3130378"/>
            <a:ext cx="138487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46054" y="3322594"/>
            <a:ext cx="161351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55783" y="3862630"/>
            <a:ext cx="179548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55783" y="4054846"/>
            <a:ext cx="176564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3981" y="3862630"/>
            <a:ext cx="1569033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33981" y="4054846"/>
            <a:ext cx="146834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6054" y="3862630"/>
            <a:ext cx="1748069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46054" y="4054846"/>
            <a:ext cx="14613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7171" y="4915243"/>
            <a:ext cx="3005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7171" y="5144072"/>
            <a:ext cx="428385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7171" y="5446126"/>
            <a:ext cx="717277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있습니다.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60504" y="4979315"/>
            <a:ext cx="42122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60504" y="5180684"/>
            <a:ext cx="413283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60504" y="5446126"/>
            <a:ext cx="295523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S09b_Defect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하자의 법적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하자는 네 가지 유형으로 나뉘고, 어느 유형으로 보느냐에 따라 기간이 달라집니다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유형 구분 · 「2026 건설감정실무」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미시공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63567"/>
            <a:ext cx="2612538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설계도서에 있는데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아예 시공되지 않은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세대 통신단자함 예비전원장치가 대표적입니다.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변경시공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63567"/>
            <a:ext cx="2612538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다른 자재·규격</a:t>
            </a:r>
            <a:r>
              <a:rPr sz="1120" b="0">
                <a:solidFill>
                  <a:srgbClr val="111418"/>
                </a:solidFill>
                <a:latin typeface="Pretendard"/>
              </a:rPr>
              <a:t>으로 시공한 것.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단열재 THK85 설계를 THK60으로 넣은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부실시공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63567"/>
            <a:ext cx="2612538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시공은 했으나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시방 기준에 못 미치는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방수층 두께 부족, 타일 뒤채움 부족이 여기 해당합니다.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설계상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81873"/>
            <a:ext cx="2612538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시공이 아니라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설계 자체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기준에 미달하거나 부적합한 것.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 대조로만 드러납니다.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6018" y="4945134"/>
            <a:ext cx="1018050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마감 뒤에 가려진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6018" y="5228881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미시공·변경시공은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도면과 대조해야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드러납니다. 눈에 보이는 하자가 전부가 아닙니다.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S09b2_Type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5546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유형 판단의 중요성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유형을 잘못 잡으면 담보책임기간이 통째로 바뀝니다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유형을 정확히 잡아야 하는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05225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기간이 갈립니다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105225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마감공사로 보면 2년, 미시공·변경시공으로 보면 5년 구간에 남습니다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62341"/>
            <a:ext cx="126221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산정 방식이 갈립니다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62341"/>
            <a:ext cx="1062314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철거·재시공비로 볼지 시공비 차액으로 볼지가 유형에 따라 달라집니다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3039275"/>
            <a:ext cx="126221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입증 방법이 갈립니다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3039275"/>
            <a:ext cx="1062314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미시공은 도면 대조로, 부실시공은 실측·시험으로 증명합니다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종전에 쓰이던 「오시공」이라는 표현은 「2026 건설감정실무」에서 정리되어, 미시공·변경시공·부실시공·설계상 하자로 구분합니다.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미시공이나 변경시공 자체가 하자인 경우는 사용검사 전 하자와 마찬가지로 보아 담보책임기간의 제한을 받지 않습니다 (대법원 2012. 7. 12. 선고 2010다108234 판결).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유형 분류는 조사 단계에서 끝내야 합니다. 소 제기 후에 바꾸면 청구 원인을 다시 짜야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S09c_Revision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판단 기준의 변화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하자 판단의 기준이 되는 「건설감정실무」가 10년 만에 개정됐습니다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개정 연혁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43891"/>
            <a:ext cx="2611943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2011. 9.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717914"/>
            <a:ext cx="216563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서울중앙지방법원 건설소송실무연구회 최초 발간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2014. 2.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법원행정처 건설감정 매뉴얼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2015년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건설감정실무 추록(개정)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2016. 10.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717914"/>
            <a:ext cx="217524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2016 개정판 · 이후 10년간 표준으로 기능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2026. 1.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745373"/>
            <a:ext cx="148409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2026 개정판 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5646351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「2026 건설감정실무」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5911792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서울중앙지방법원 건설소송실무연구회가 발간한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하자 판단의 사실상 표준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2016년판 이후 10년 만의 개정입니다.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837" y="5646351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개정으로 달라진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837" y="5911792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균열은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충전식 보수를 원칙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으로, 타일은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부착강도 0.39N/㎟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기준이 새로 생겼습니다.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S09c2_Revision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5501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개정의 배경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판단 기준이 감정인마다 달라 개정이 필요했습니다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왜 바뀌었나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변화된 시공 환경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80504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2016 개정판의 일부 내용이 달라진 건설 환경과 실무를 반영하지 못한다는 지적이 있었습니다.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219675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고도화된 분쟁 양상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480504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하자소송에서 새로 다투어지는 항목들에 유효·적절한 판단 기준이 없었습니다.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2196756"/>
            <a:ext cx="436166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개정 법령 미반영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480504"/>
            <a:ext cx="360095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표준시방서·국토교통부 고시 등의 개정 사항이 제대로 반영되지 못했습니다.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전면 개편이 아니라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기존 원칙을 유지하면서 기준을 구체화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하고, 감정인이 현장 여건을 고려해 판단할 수 있도록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재량을 넓힌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개정입니다.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재량이 넓어졌다는 것은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 과정에서의 대응이 곧 결과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된다는 뜻입니다. 감정 신청 단계부터 개정된 기준에 맞춘 전략이 필요합니다.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현재 진행 중이거나 앞으로 제기될 사건에는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2026 개정판이 적용</a:t>
            </a:r>
            <a:r>
              <a:rPr sz="1120" b="0">
                <a:solidFill>
                  <a:srgbClr val="111418"/>
                </a:solidFill>
                <a:latin typeface="Pretendard"/>
              </a:rPr>
              <a:t>됩니다. 2016년 기준으로 준비된 조사·감정 항목은 그대로 쓸 수 없습니다.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판단의 기준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무엇을 보고 하자라고 하는가 · 설계도서의 우선순위가 정리됐습니다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2026 개정판이 정리한 우선순위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2119870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32000"/>
            <a:ext cx="12406549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49326"/>
            <a:ext cx="139420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공사시방서 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352360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건축공사 표준시방서보다 해당 현장의 공사시방서를 우선하여 해석합니다 (기본 원칙, 2016 개정판과 동일)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791997"/>
            <a:ext cx="143722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다만 안전은 역전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695031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중대한 기능·성능·안전상 시공기준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은 공사시방서의 기준이 표준시방서보다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낮은 경우 표준시방서를 우선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적용할 수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134668"/>
            <a:ext cx="16120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자재 제조사 시방서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3037702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공사시방서에 "자재 제조사의 기준에 따른다"는 취지의 기재가 있으면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원칙적으로 하자 판단의 기준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될 수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477340"/>
            <a:ext cx="100172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준공내역서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380373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준공도면과 준공내역서의 기재 내용에 따라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적용 우선순위를 경우의 수로 나누어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제시했습니다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820011"/>
            <a:ext cx="10879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그 밖의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723045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개별 하자 항목에 따라 관련 법률·표준품셈·</a:t>
            </a:r>
            <a:r>
              <a:rPr sz="1120" b="1">
                <a:solidFill>
                  <a:srgbClr val="223D5B"/>
                </a:solidFill>
                <a:latin typeface="Pretendard"/>
              </a:rPr>
              <a:t>한국토지주택공사 시방서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등도 판단 기준이 될 수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22594" y="4982461"/>
            <a:ext cx="1082488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설계도서의 우선순위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22594" y="5266209"/>
            <a:ext cx="5894630" cy="5208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공사시방서가 표준시방서보다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우선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합니다. 문서 간 불일치는 감정에서 그대로 다툼이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_S09d2_DrawingFi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조사의 출발점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설계도서를 먼저 확보해야 실제 시공과 대조할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그래서 설계도서 확보가 첫 단계입니다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489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489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같은 하자라도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어느 문서를 기준으로 보느냐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따라 하자 여부와 보수 범위가 달라집니다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79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우리가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79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사업승인·준공 시점의 도면·시방서·내역서를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한 뒤 조사에 들어갑니다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06594" y="2804583"/>
            <a:ext cx="3982079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단위세대 난방배관 평면도입니다. 배관 간격과 경로가 도면에 수치로 적혀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6594" y="2804583"/>
            <a:ext cx="4826274" cy="3089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20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설계도면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6594" y="3509376"/>
            <a:ext cx="4826274" cy="422832"/>
          </a:xfrm>
          <a:prstGeom prst="rect">
            <a:avLst/>
          </a:prstGeom>
          <a:noFill/>
        </p:spPr>
        <p:txBody>
          <a:bodyPr wrap="square" anchor="t" lIns="0" rIns="0" tIns="82378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이 문서를 확보해야 현장에서 무엇을 재야 하는지가 정해집니다.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21585" y="2804583"/>
            <a:ext cx="3443873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같은 공종의 현장 상태입니다. 타 단지 조사 사례로, 단지명·동호수는 드러나지 않습니다.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1585" y="2804583"/>
            <a:ext cx="4170176" cy="3089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20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실제 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1585" y="3509376"/>
            <a:ext cx="3443873" cy="510025"/>
          </a:xfrm>
          <a:prstGeom prst="rect">
            <a:avLst/>
          </a:prstGeom>
          <a:noFill/>
        </p:spPr>
        <p:txBody>
          <a:bodyPr wrap="square" anchor="t" lIns="0" rIns="0" tIns="82378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도면과 나란히 놓고 대조할 때 비로소 하자 여부를 말할 수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기준 문서를 확보하지 못한 상태에서 현장을 보면 무엇이 하자인지 판단할 수 없습니다. 조사보다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설계도서 확보가 먼저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인 이유입니다.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 기재가 모호하거나 문서 간 불일치가 있으면 감정 단계에서 그대로 다툼이 됩니다.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미리 확인해 두는 것이 감정 대응의 출발점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정보공개청구는 접수일부터 10일 이내 결정이 원칙이나 비공개 결정 시 이의신청·행정심판을 거쳐야 합니다.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착수 직후 바로 청구합니다.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_S10_Warranty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3766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담보책임 존속기간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담보책임 존속기간은 공종에 따라 2년에서 10년까지 구분됩니다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877787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5675" y="1711639"/>
            <a:ext cx="2031084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0" y="1711639"/>
            <a:ext cx="2723063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존속기간 길이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9351" y="1711639"/>
            <a:ext cx="6586609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세부 공종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105225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10년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5675" y="2105225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2659" y="2205909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10년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9351" y="2105225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내력벽·기둥·바닥·보·지붕틀·주계단, 지반공사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663567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5675" y="2663567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기산일 전 발생 하자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659" y="2764252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9351" y="2663567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미시공·변경시공 등 사용검사 전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3221909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5675" y="3221909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659" y="3322594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9351" y="3221909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대지조성·철근콘크리트·철골·조적·지붕 및 방수공사 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780252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5675" y="3780252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하자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2659" y="3880936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9351" y="3780252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건축설비공사·목공사·창호공사·조경공사 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729" y="4338594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5675" y="4338594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하자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2659" y="4439279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9351" y="4338594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발견·교체·보수가 용이한 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792" y="5263063"/>
            <a:ext cx="421319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전유부분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792" y="5473585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구분소유자에게 인도한 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0347" y="5263063"/>
            <a:ext cx="421319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공용부분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0347" y="5473585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사용검사일(주택법) / 사용승인일(건축법)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5903" y="5263063"/>
            <a:ext cx="421319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사용검사 전 하자 = 5년 구간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903" y="5473585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JL 14건 실적상 </a:t>
            </a:r>
            <a:r>
              <a:rPr sz="1150" b="1">
                <a:solidFill>
                  <a:srgbClr val="FFFFFF"/>
                </a:solidFill>
                <a:latin typeface="Pretendard"/>
              </a:rPr>
              <a:t>보수비의 66.4%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02752"/>
            <a:ext cx="1185333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집합건물의 소유 및 관리에 관한 법률 제9조의2 + 같은 법 시행령 제5조. 적용 법령 분기는 2013.6.19. 이후 분양 · 2016.8.12. 이후 사용검사입니다. 66.4%는 JL 수행 사건 중 판결문에 하자보수비 총괄집계표가 있는 14건의 합산 기준(22,714,455,231 ÷ 34,199,288,617)이며, 사건별 범위는 34.7~93.9%입니다. </a:t>
            </a:r>
            <a:r>
              <a:rPr sz="1010" b="1">
                <a:solidFill>
                  <a:srgbClr val="111418"/>
                </a:solidFill>
                <a:latin typeface="Pretendard"/>
              </a:rPr>
              <a:t>2년차·3년차가 도과해도 미시공·변경시공 하자는 5년 구간에 남습니다.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_S11_Assignmen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4645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채권양도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동의(채권양도) 세대 비율이 곧 청구 규모입니다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58198" y="1913009"/>
            <a:ext cx="38538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양도비율이 곧 청구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198" y="2160144"/>
            <a:ext cx="3184381" cy="726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공용부분 손해배상채권은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전유부분 면적 비율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각 구분소유자에게 귀속됩니다. 양도받지 못한 면적만큼 청구할 수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58198" y="3116648"/>
            <a:ext cx="3853843" cy="480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223D5B"/>
                </a:solidFill>
                <a:latin typeface="Pretendard"/>
              </a:rPr>
              <a:t>93.28%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198" y="3482774"/>
            <a:ext cx="318438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JL 수행 사건 평균 · 판결문에서 양도비율이 확인된 15건 기준(범위 75.01~100%)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198" y="4077729"/>
            <a:ext cx="3853843" cy="480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223D5B"/>
                </a:solidFill>
                <a:latin typeface="Pretendard"/>
              </a:rPr>
              <a:t>4차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198" y="4443855"/>
            <a:ext cx="318438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양도 통지는 여러 차수로 나눠 진행합니다. 늦은 차수는 2·3년차 하자가 제척기간으로 소멸한 사례가 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506169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5272216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손해배상청구권은 원칙적으로 각 구분소유자에게 귀속됩니다.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742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산정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9742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공용부분 채권은 전유부분 </a:t>
            </a:r>
            <a:r>
              <a:rPr sz="1080" b="1">
                <a:solidFill>
                  <a:srgbClr val="111418"/>
                </a:solidFill>
                <a:latin typeface="Pretendard"/>
              </a:rPr>
              <a:t>면적 비율</a:t>
            </a:r>
            <a:r>
              <a:rPr sz="1080" b="0">
                <a:solidFill>
                  <a:srgbClr val="111418"/>
                </a:solidFill>
                <a:latin typeface="Pretendard"/>
              </a:rPr>
              <a:t>로 귀속됩니다. 양도비율도 세대 수가 아니라 전유면적으로 계산합니다.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2997" y="506169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2997" y="5272216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징구 지원이 핵심입니다.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_S12_Claim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4004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청구 대상 3축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청구 상대방은 분양자·시공자·보증기관 셋으로 나뉩니다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223D5B"/>
                </a:solidFill>
                <a:latin typeface="Pretendard"/>
              </a:rPr>
              <a:t>분양자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시행사·조합. 집합건물법 제9조에 따른 담보책임의 1차 주체입니다.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2288" y="3474479"/>
            <a:ext cx="180994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제1항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758227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2288" y="3758227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분양계약서 · 건축물대장 · 등기사항증명서 · 신탁원부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792" y="4234191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2288" y="4234191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신탁사가 분양자인 경우가 있고, 무자력인 사례가 많습니다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223D5B"/>
                </a:solidFill>
                <a:latin typeface="Pretendard"/>
              </a:rPr>
              <a:t>시공자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8048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개정 집합건물법에서 법정책임화되어, 분양자에게 회생·파산·무자력 등 사유가 있는 경우 직접 청구할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8048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5543" y="3474479"/>
            <a:ext cx="184362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제3항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8048" y="3758227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5543" y="3758227"/>
            <a:ext cx="203694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건축물대장 · 도급계약 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8048" y="4041975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5543" y="4041975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분양자에게 이미 배상한 범위에서는 책임을 면합니다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1304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223D5B"/>
                </a:solidFill>
                <a:latin typeface="Pretendard"/>
              </a:rPr>
              <a:t>보증기관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304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건설공제조합·서울보증보험·주택도시보증공사 등. 하자보수보증금을 청구합니다.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1304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8799" y="3474479"/>
            <a:ext cx="256819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 제38조 · 보증계약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1304" y="3758227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799" y="3758227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하자보수보증서(보증금액 · 보증기간 · 연차별 구분)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1304" y="4234191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8799" y="4234191"/>
            <a:ext cx="265532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하자만 보증 대상입니다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252" y="4924396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실무상 반드시 구분해야 하는 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252" y="5180684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보증금은 보수 용도로만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5391207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보증금은 하자보수에만 쓸 수 있어 그것만 청구하면 회수가 어렵습니다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2203" y="5180684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 청구는 입대의 고유 권한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72203" y="5391207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 비율의 영향을 받지 않는 별도 청구입니다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2155" y="5180684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사용검사 전 하자는 보증 대상 아님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2155" y="5391207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보수비의 66.4%를 차지하는 이 부분은 분양자·시공자에게 청구합니다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 축을 함께 걸어 두는 것이 원칙입니다. 소 제기 후 다툼 없는 사실로 피고를 정리하는 것이 실무 관례입니다.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_S12b_ClaimRo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청구 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하자를 이유로 할 수 있는 청구는 네 갈래이고, 성격이 서로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2588511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3891" y="1711639"/>
            <a:ext cx="3408634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근거 법령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6774" y="1711639"/>
            <a:ext cx="2471351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상대방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7405" y="1711639"/>
            <a:ext cx="6314211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받는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128823"/>
            <a:ext cx="117636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손해배상청구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3891" y="2033716"/>
            <a:ext cx="2819171" cy="58601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집합건물법 제9조</a:t>
            </a:r>
          </a:p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(민법 제667조 이하 준용)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774" y="2033716"/>
            <a:ext cx="2050306" cy="58601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분양자·시공자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7405" y="2033716"/>
            <a:ext cx="5202652" cy="58601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금전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이 제안서가 수행하는 청구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585479"/>
            <a:ext cx="25885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하자보수청구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3891" y="2585479"/>
            <a:ext cx="3408634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6774" y="2585479"/>
            <a:ext cx="247135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사업주체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7405" y="2585479"/>
            <a:ext cx="63142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 이행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2924432"/>
            <a:ext cx="25885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하자보수보증금 청구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3891" y="2924432"/>
            <a:ext cx="3408634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6774" y="2924432"/>
            <a:ext cx="247135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보증기관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7405" y="2924432"/>
            <a:ext cx="63142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보증금 한도 내 금전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263385"/>
            <a:ext cx="25885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하자심사·분쟁조정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3891" y="3263385"/>
            <a:ext cx="3408634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제39조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6774" y="3263385"/>
            <a:ext cx="247135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하자분쟁조정위원회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7405" y="3263385"/>
            <a:ext cx="63142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조정안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54162" y="4877629"/>
            <a:ext cx="1001647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청구는 법원에서 다툽니다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4162" y="5161377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집합건물법 제9조 계열의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손해배상청구권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이 제안서가 실제로 만드는 청구입니다.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_S12b2_RouteRe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640720"/>
            <a:ext cx="26196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청구 경로 간 관계 [고정]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네 갈래는 배타적이지 않지만, 조정만 고집하면 기간을 놓칠 수 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네 갈래는 배타적이지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50990"/>
            <a:ext cx="4423901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병행할 수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34738"/>
            <a:ext cx="3652007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보수청구와 손해배상청구는 목적이 다르므로 함께 진행할 수 있습니다. 다만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같은 하자에 대해 이중으로 받지는 못합니다.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7826" y="2150990"/>
            <a:ext cx="4424085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보증금은 한도가 있습니다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7826" y="2434738"/>
            <a:ext cx="3652158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하자보수보증금은 보증서에 적힌 한도까지입니다. 실제 보수비가 그보다 크면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차액은 손해배상으로 청구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해야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76769" y="2150990"/>
            <a:ext cx="4423901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조정은 강제력이 약합니다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6769" y="2434738"/>
            <a:ext cx="3652007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조정안을 상대가 받아들이지 않으면 그대로 끝납니다. 기간만 흐를 수 있어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존속기간이 임박한 단지에는 권하지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5387" y="3722615"/>
            <a:ext cx="1252371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소 제기의 의미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5387" y="3978904"/>
            <a:ext cx="7157765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조정만 고집하다 </a:t>
            </a:r>
            <a:r>
              <a:rPr sz="969" b="1">
                <a:solidFill>
                  <a:srgbClr val="223D5B"/>
                </a:solidFill>
                <a:latin typeface="Pretendard"/>
              </a:rPr>
              <a:t>담보책임기간을 놓치면</a:t>
            </a:r>
            <a:r>
              <a:rPr sz="969" b="0">
                <a:solidFill>
                  <a:srgbClr val="111418"/>
                </a:solidFill>
                <a:latin typeface="Pretendard"/>
              </a:rPr>
              <a:t> 되돌릴 수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입주자대표회의가 세대로부터 채권을 양도받아 자기 이름으로 손해배상을 청구하는 것이 가장 넓은 범위를 다룹니다.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손해배상 범위는 보증금 한도에 묶이지 않고, 감정으로 산정된 보수비 전액을 청구 대상으로 삼습니다.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조정을 먼저 시도하다 존속기간을 넘기는 사례가 있습니다. 남은 기간을 먼저 계산하고 경로를 정해야 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_S12c_AssociationPow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07527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입주자대표회의의 지위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입주자대표회의가 당연히 할 수 있는 것과, 세대 동의가 필요한 것은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구분해서 보아야 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1885549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4702" y="2032000"/>
            <a:ext cx="3525794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9117" y="2032000"/>
            <a:ext cx="9243220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근거·요건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49326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권리로 인정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4702" y="2352360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공용부분 하자에 관한 보수 청구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17" y="2352360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제37조 · 입대의가 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91997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권리로 인정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4702" y="2695031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하자보수보증금의 청구·수령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9117" y="2695031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134668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동의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4702" y="3037702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전유부분 하자의 손해배상청구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9117" y="3037702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세대별 채권양도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구분소유자가 채권자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477340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동의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4702" y="3380373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공용부분 손해배상청구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9117" y="3380373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구분소유자로부터 채권을 양도받아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820011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협의로 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4702" y="3723045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소송 제기 여부와 위임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9117" y="3723045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입대의 의결 + 필요 시 입주자 동의 절차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22594" y="4987038"/>
            <a:ext cx="10824885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입주자대표회의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22594" y="5261632"/>
            <a:ext cx="5894630" cy="5208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 청구와 보증금 청구는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입대의 권한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이지만, 전유부분 손해배상은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세대 동의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필요합니다.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_S12c2_Assignment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0713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채권양도의 필요성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전유부분 손해배상은 입대의가 아니라 세대의 채권양도로 시작됩니다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그래서 채권양도가 소송의 출발점입니다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489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왜 필요한가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489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손해배상채권은 원칙적으로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각 구분소유자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에게 있습니다. 입대의가 자기 이름으로 청구하려면 양도받아야 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79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79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양도율이 곧 청구 범위입니다. JL 수행 18건 중 15건에서 확인된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평균 93.28%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4414" y="3304860"/>
            <a:ext cx="1168015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전유부분은 세대가 채권자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4414" y="3588608"/>
            <a:ext cx="5894630" cy="5208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입대의 의결만으로는 전유부분 손해배상을 청구할 수 없습니다.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구분소유자의 양도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있어야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권리로 단정할 수 있는 것과 세대 동의가 필요한 것을 구분해 설명드립니다. 이 구분을 흐리면 나중에 당사자적격 다툼이 생깁니다.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JL 수행 사건 판결문 15건 기준 채권양도비율은 평균 93.28%, 중앙값 95.25%, 범위 75.01~100%입니다.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양도서 징구에는 시간이 걸립니다. 존속기간이 임박한 단지는 1차 양도분만으로 먼저 소를 제기하고 추가 양도를 뒤에 붙입니다.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_S12d_DisputeCommit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2753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하자심사·분쟁조정위원회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하심위 하자심사에서 판정서 10건 중 약 7건이 하자로 인정됩니다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국토교통부가 공개한 처리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2160144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처리량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361513"/>
            <a:ext cx="3180171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연평균 4,600여건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645261"/>
            <a:ext cx="2631760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'21~'25년 5년간 하자심사·분쟁조정·재정을 합해 연평균 약 4,600건을 처리했습니다. '25년은 4,761건입니다.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1927" y="2160144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인정률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1927" y="2361513"/>
            <a:ext cx="318017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68.3%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1927" y="2626954"/>
            <a:ext cx="2631760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판정서 교부 11,081건 중 </a:t>
            </a:r>
            <a:r>
              <a:rPr sz="1120" b="1">
                <a:solidFill>
                  <a:srgbClr val="223D5B"/>
                </a:solidFill>
                <a:latin typeface="Pretendard"/>
              </a:rPr>
              <a:t>7,573건이 하자로 판정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됐습니다. 연도별로는 61.0~78.8% 사이에서 움직입니다.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675" y="2160144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보수 의무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675" y="2370666"/>
            <a:ext cx="3180171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60일 이내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675" y="2654414"/>
            <a:ext cx="2631760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하자로 판정되면 사업주체는 공동주택관리법령에 따라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60일 이내 보수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하고 하자관리정보시스템에 결과를 등록해야 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9423" y="2160144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명단 공개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9423" y="2370666"/>
            <a:ext cx="318017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반기마다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9423" y="2636108"/>
            <a:ext cx="2631760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 판정 건수·비율 상위 건설사 명단이 반기마다 공개됩니다. '26년 하반기부터는 하심위 누리집에 게시됩니다.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71783" y="4940557"/>
            <a:ext cx="1012192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하자심사·분쟁조정위원회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1783" y="5215152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판정서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10건 중 약 7건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하자로 인정됩니다. 조정과 소송은 병행할 수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_S12d2_VsL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하심위와 소송의 차이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하심위 조정과 소송은 절차·기간·강제력이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소송과 어떻게 다른가 · 헷갈리기 쉬운 부분입니다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489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하심위 하자심사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489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하자인지 아닌지를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판정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합니다. 보수 이행을 이끌어내는 절차이며 금전 배상을 정하지 않습니다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79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손해배상 소송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79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보수에 드는 비용을 금전으로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청구합니다. 이 제안서가 수행하는 절차입니다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91027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함께 쓰는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691027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하심위 판정 결과와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보수 미이행 기록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은 소송에서 하자의 존재와 미이행을 뒷받침하는 자료가 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33369" y="3582887"/>
            <a:ext cx="1221909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조정과 소송의 차이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3369" y="3866635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조정은 빠르지만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강제력이 없고</a:t>
            </a:r>
            <a:r>
              <a:rPr sz="1120" b="0">
                <a:solidFill>
                  <a:srgbClr val="111418"/>
                </a:solidFill>
                <a:latin typeface="Pretendard"/>
              </a:rPr>
              <a:t>, 소송은 시간이 걸리지만 집행력이 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하심위 통계는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하자심사 신청분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의 통계이지 소송 통계가 아닙니다. 다만 공동주택 하자가 어떤 규모로 다투어지는지 보여주는 공식 자료입니다.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판정 후 </a:t>
            </a:r>
            <a:r>
              <a:rPr sz="1120" b="1">
                <a:solidFill>
                  <a:srgbClr val="111418"/>
                </a:solidFill>
                <a:latin typeface="Pretendard"/>
              </a:rPr>
              <a:t>60일 이내 보수·등록 의무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있습니다. 이 기한을 넘긴 기록이 남아 있다면 소송에서 미이행을 증명하는 근거가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하심위 절차는 판정까지 시간이 걸립니다.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담보책임 존속기간이 임박한 단지는 조정만 기다리면 안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[1차 출처 · 공공저작물]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_D3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7947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31712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단지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232746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SITE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3885147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이 단지는 지금 어떤 상태인가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단지 현황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 접수 집계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5080000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미이행 하자보수 이력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226450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473585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62003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_S04_Complex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단지 현황 [가변]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606" y="640720"/>
            <a:ext cx="10571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예시 슬롯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이스트힐아파트의 기본 현황입니다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9189" y="1821477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단지명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5387" y="1821477"/>
            <a:ext cx="13905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이스트힐아파트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189" y="2233369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소재지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5387" y="2233369"/>
            <a:ext cx="258558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경기도 구리시 갈매중앙로 132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9189" y="2654414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총 세대수 / 동수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5387" y="2654414"/>
            <a:ext cx="17888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1,444세대 / 14개동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89" y="3075459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복도유형 · 난방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5387" y="3075459"/>
            <a:ext cx="153992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계단식 · 지역난방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981" y="1821477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사용검사일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0180" y="1821477"/>
            <a:ext cx="117618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2016-11-01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2233369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시행사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0180" y="2233369"/>
            <a:ext cx="201460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한국토지주택공사(LH)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3981" y="2645261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시공사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0180" y="2645261"/>
            <a:ext cx="11833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임광토건(주)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057153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관리방식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180" y="3057153"/>
            <a:ext cx="84959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위탁관리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252" y="4082306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이 정보가 결정하는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252" y="434774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사용검사일 → 담보책임기간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252" y="4567423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공종별 만료일이 이 날짜 하나로 계산됩니다 (S5)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2203" y="434774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시행사·시공사 → 피고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2203" y="4567423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청구 상대방과 신탁·무자력 여부를 확인합니다 (S12)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2155" y="434774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총 세대수 → 청구 규모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2155" y="4567423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 채권양도 대상이 됩니다 (S11)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80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사용검사필증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기산일 확정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6504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하자보수보증서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6504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보증기관·보증금액·보증기간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828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입주자모집공고문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4828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광고 사양 대비 시공 대조 (S8)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3153" y="5327135"/>
            <a:ext cx="316259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 접수대장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53" y="5528504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유형별·동별 집계 (S6)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5936820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단지 정보 입력표(</a:t>
            </a:r>
            <a:r>
              <a:rPr sz="1010" b="0">
                <a:solidFill>
                  <a:srgbClr val="111418"/>
                </a:solidFill>
                <a:latin typeface="Pretendard"/>
              </a:rPr>
              <a:t>) 한 건으로 이 장과 S5 타임라인이 함께 채워집니다.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57864" y="6101577"/>
            <a:ext cx="253011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template/data/&lt;단지&gt;.json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_S04b_SiteFirstL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단지 현장 [가변]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이스트힐아파트 현장에서 저희가 먼저 보는 곳은 세 군데입니다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외벽 · 외부 마감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균열 · 백화 · 타일 탈락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먼저 드러나는 곳입니다. 지상에서도 상당 부분 확인됩니다.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지하주차장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896793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천장·바닥·벽면에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누수 자국과 방수 상태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나타납니다. 면적이 커서 금액도 큽니다.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옥상 · 옥탑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방수층 표면과 배수구 주변의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들뜸 · 갈라짐 · 고인 물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그대로 조사 항목이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실물 사진은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확인한 것만 실었습니다. 도해는 절차와 판단 기준을 나타낸 것으로 특정 단지의 상태를 나타내지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_S05_Warranty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79050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담보책임기간 잔여 [가변 · 자동계산]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30325" y="640720"/>
            <a:ext cx="12149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예시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이스트힐아파트의 담보책임기간, 공종별로 여유와 도과가 갈립니다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099" y="4251639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 (10년)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6378" y="424706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+ 10년 = 2026-11-01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48317" y="4256216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E67E22"/>
                </a:solidFill>
                <a:latin typeface="Pretendard"/>
              </a:rPr>
              <a:t>임박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099" y="4581153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· 철근콘크리트·조적·지붕·방수 (5년)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6378" y="4576576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+ 5년 = 2021-11-01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48317" y="4585729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099" y="4910666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· 건축설비·목공사·창호·조경 (3년)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6378" y="4906090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+ 3년 = 2019-11-01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48317" y="4915243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099" y="5240180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등 발견·교체·보수 용이 하자 (2년)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6378" y="523560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+ 2년 = 2018-11-01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48317" y="5244756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5667804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기산일은 사용검사일(공용부분) 기준입니다. 이미 도과한 공종은 숨기지 않고 그대로 표시하며, 남은 구간에 청구를 집중하는 근거로 씁니다. </a:t>
            </a:r>
            <a:r>
              <a:rPr sz="1010" b="0">
                <a:solidFill>
                  <a:srgbClr val="111418"/>
                </a:solidFill>
                <a:latin typeface="Pretendard"/>
              </a:rPr>
              <a:t>으로 재계산됩니다.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5832560"/>
            <a:ext cx="11421747" cy="38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python3 tools/timeline.py template/data/&lt;단지&gt;.json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_S06_Defect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94427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하자 접수 집계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07043" y="640720"/>
            <a:ext cx="13727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 하자 접수는 유형별·동별로 이렇게 집계됩니다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794219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유형별 접수 건수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004540"/>
            <a:ext cx="4664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누수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0877" y="2004540"/>
            <a:ext cx="60996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412건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498810"/>
            <a:ext cx="4664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균열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2593" y="2498810"/>
            <a:ext cx="60776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318건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2993081"/>
            <a:ext cx="103009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결로·곰팡이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4990" y="2993081"/>
            <a:ext cx="64310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236건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3487351"/>
            <a:ext cx="8461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 불량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1197" y="3487351"/>
            <a:ext cx="5711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191건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990774"/>
            <a:ext cx="8461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설비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600" y="3990774"/>
            <a:ext cx="60008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127건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3426" y="1702486"/>
            <a:ext cx="613901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동별 접수 밀도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3426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3638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3850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34061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4273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3426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3638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3850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34061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4273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4042118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보유한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세대 하자 접수대장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위 막대 길이와 색상은 레이아웃 예시이며 실제 값이 아닙니다. 자료가 없으면 이 슬라이드는 삭제하고 진행합니다.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접수 기록은 그 자체로 증거입니다. 같은 부위에 반복 접수된 이력은 일시적 현상이 아니라 시공에서 비롯된 하자라는 근거가 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건수보다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반복 접수와 최초 접수일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중요합니다. 최초 접수일이 사용검사 이후 발생 하자의 발생 시점을 특정합니다.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확보해야 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_S06b_Resident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0361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단지 보유 자료 활용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관리사무소에 쌓인 하자 접수 기록이 그대로 청구 근거가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세 가지로 쓰입니다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하자의 존재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같은 부위에 반복 접수된 기록은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일시적 현상이 아니라는 근거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발생 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81873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접수 일자가 곧 발생 시점의 증거입니다.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결로처럼 사용검사 후에 나타나는 하자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에서 결정적입니다.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96756"/>
            <a:ext cx="436166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98126"/>
            <a:ext cx="436166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미이행 사실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81873"/>
            <a:ext cx="360095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 요구 공문과 회신을 대조하면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무엇이 이행되지 않았는지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드러납니다.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5869173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접수 기록이 곧 증거입니다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134614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건수보다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반복 접수와 최초 접수일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중요합니다. 최초 접수일이 하자 발생 시점을 특정합니다.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837" y="5869173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공문과 회신은 함께 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837" y="6134614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요구했는데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이행되지 않은 이력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남아 있으면 그 자체가 청구의 근거가 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_S06b2_DataOrgan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자료 정리 방식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관리사무소 자료는 접수·처리·미이행 세 갈래로 정리합니다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제출해 주시면 이렇게 정리합니다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43891"/>
            <a:ext cx="3326621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원자료 수령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717914"/>
            <a:ext cx="3326621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접수대장 · 공문 · 회신 · 보수 지출 내역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1585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1585" y="2443891"/>
            <a:ext cx="3338338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부위·유형 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1585" y="2717914"/>
            <a:ext cx="3338338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14종 하자 유형 체계로 재분류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29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297" y="2443891"/>
            <a:ext cx="3338338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중복·시점 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297" y="2717914"/>
            <a:ext cx="3338338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반복 접수를 묶고 최초 접수일을 특정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009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009" y="2443891"/>
            <a:ext cx="3338338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감정 항목 연결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009" y="2717914"/>
            <a:ext cx="3338338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감정신청서 항목으로 옮겨 근거로 붙입니다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단지가 이미 가지고 있는 자료가 가장 값싸고 강한 증거입니다. 새로 만들 필요 없이 정리만 하면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접수 건수 자체보다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같은 부위의 반복 접수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중요합니다. 반복은 시공 원인을 가리키고, 일회성은 사용 원인으로 반박당합니다.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관리사무소 자료는 보존 연한이 지나면 폐기됩니다. 착수 시점에 먼저 사본을 확보해 두어야 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_S07_Unresolved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53099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미이행 하자보수 이력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07043" y="640720"/>
            <a:ext cx="13727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이스트힐아파트은 하자보수를 요청했지만 이행되지 않았습니다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2018-05-14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1차 하자보수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관리사무소 → 시공사 공문 발송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2270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2018-07-02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시공사 회신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2270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착수, 완료 지연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8054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2019-03-21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8054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2차 하자보수 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8054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미보수 항목 재통보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837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2026-08-24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837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0392B"/>
                </a:solidFill>
                <a:latin typeface="Pretendard"/>
              </a:rPr>
              <a:t>미이행 지속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837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9189" y="3752792"/>
            <a:ext cx="188554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일자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2162" y="3752792"/>
            <a:ext cx="165122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2072" y="3752792"/>
            <a:ext cx="1104748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9189" y="4100612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2018-05-14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2162" y="4100612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공문 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12072" y="4100612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1차 하자보수 요청 (공용부 누수·균열 62개소)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457585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2018-07-02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2162" y="4457585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시공사 회신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12072" y="4457585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 회신, 완료 예정일 미제시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9189" y="4814558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2019-03-21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2162" y="4814558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재요청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12072" y="4814558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2차 하자보수 요청 (미보수 41개소 재통보)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189" y="5171531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2026-08-24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2162" y="5171531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현재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12072" y="5171531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잔존, 보수 미이행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시공사에 보낸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하자보수 요청 공문·회신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자료가 없으면 삭제하고 진행합니다.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_S08_AdVs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82920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광고 사양 대비 실제 시공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07043" y="640720"/>
            <a:ext cx="13727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 분양 당시 고지된 사양과 실제 시공을 대조합니다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1405" y="1913009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입주자모집공고문 · 분양 카탈로그 원문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405" y="2205909"/>
            <a:ext cx="5394868" cy="3450006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"전 세대 거실 및 침실 바닥재 강마루 시공"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405" y="5491891"/>
            <a:ext cx="654853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입주자모집공고문 12면 · 주택형별 마감재 목록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4666" y="1913009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현장 확인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666" y="2205909"/>
            <a:ext cx="5394868" cy="3450006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현장 확인 결과 침실 바닥재가 강화마루로 시공된 것으로 확인됩니다. 감정을 통해 자재 등급 차액 산정이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666" y="5491891"/>
            <a:ext cx="654853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확인일: 2026-08-20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입주자모집공고문·분양 카탈로그 원문과 현장 사진·감정 결과를 나란히 대조하는 것은 JL의 차별화 구간입니다. 자료가 없으면 이 슬라이드는 삭제하고 진행합니다. 인용은 원문 그대로만 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_S08b_InfoDiscl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설계도서 확보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설계도서가 없으면 대조할 기준이 없습니다 ·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미시공은 도면으로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80504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"있어야 할 것이 없다"를 보이려면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있어야 한다는 근거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필요합니다. 그것이 준공도면입니다.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219675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변경시공은 사양서로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480504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THK 85가 60이 된 것을 보이려면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형별성능관계내역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2196756"/>
            <a:ext cx="436166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부실시공은 시방서로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480504"/>
            <a:ext cx="4361660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두께·배합 기준은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공사시방서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적혀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6494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확보하는 설계도서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5914939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준공도면 · 공사시방서 · 형별성능관계내역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없으면 대조할 기준이 없어 무엇이 하자인지 말할 수 없습니다.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5837" y="56494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정보공개청구 절차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5837" y="5914939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접수일부터 </a:t>
            </a:r>
            <a:r>
              <a:rPr sz="1040" b="1">
                <a:solidFill>
                  <a:srgbClr val="223D5B"/>
                </a:solidFill>
                <a:latin typeface="Pretendard"/>
              </a:rPr>
              <a:t>10일 이내 결정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원칙이고, 비공개 결정 시 이의신청·행정심판을 거칩니다. 착수 직후 바로 청구합니다.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_S08b2_Disclosure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30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확보 대상·경로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설계도서는 인허가권자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확보 대상과 경로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50306"/>
            <a:ext cx="4645225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3711" y="2050306"/>
            <a:ext cx="7317030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확보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416432"/>
            <a:ext cx="4645225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준공도면 · 사용승인도면 · 형별성능관계내역 · 감리보고서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711" y="2416432"/>
            <a:ext cx="7317030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관할 지자체에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정보공개청구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2803153"/>
            <a:ext cx="4645225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공사시방서 · 준공내역서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3711" y="2803153"/>
            <a:ext cx="7317030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정보공개청구 및 문서제출명령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3189873"/>
            <a:ext cx="4645225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 요구 공문·회신 · 하자 접수대장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3711" y="3189873"/>
            <a:ext cx="7317030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단지 보유 자료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관리사무소에서 사본 확보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 확보는 조사보다 먼저 합니다. 기준을 모르는 상태에서 현장을 보면 무엇이 하자인지 판단할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결정이 원칙이며, 부득이한 경우 10일 범위에서 연장될 수 있습니다 (정보공개법 제11조).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비공개 결정이 나면 이의신청·행정심판을 거쳐야 해 시간이 더 걸립니다. 착수 직후 바로 청구를 넣습니다.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_D4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8203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31712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하자 발굴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283802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DEFECT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2517483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무엇을 찾아내는가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하자조사 절차 90일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주요 하자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유형별 판정 기준과 인정 사례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_S13_Inspec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4645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하자조사 절차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하자조사는 90일 동안 5단계로 진행되며, 단계마다 산출물이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1~10일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기본계획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조사 범위·항목·표본 세대 확정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51675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조사계획서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9852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11~25일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9852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사전조사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9852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준공도면·시방서·구조계산서 확보 및 대조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852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설계도서 대조표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7128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26~45일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7128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상태조사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7128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관할 지자체 정보공개청구로 감리보고서·설계변경 내역 확보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7128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정보공개 회신 자료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4404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46~75일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4404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정밀조사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4404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세대·공용부 현장 실측, 파취조사, 계측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4404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부위별 실측 데이터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1680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76~90일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21680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1680" y="1949621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유형별 정리 및 보수비 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1680" y="2251675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하자조사 보고서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180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설계도서 대조가 핵심입니다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8180" y="3597189"/>
            <a:ext cx="3594493" cy="6848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눈에 보이는 하자보다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도면에 있는데 시공되지 않은 것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금액을 만듭니다. 미시공·변경시공은 도면 대조로만 드러납니다.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5429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정보공개청구를 병행합니다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429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준공도면·감리보고서는 시공사가 주지 않습니다. 관할 지자체에 정보공개청구해 확보합니다.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2677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감정 신청의 기초가 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2677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조사 결과가 곧 감정신청 항목이 됩니다. 조사가 부실하면 감정에서 다투지 못합니다.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4668108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이 조사가 만드는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252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항목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252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감정신청서에 올릴 하자 항목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62180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금액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62180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항목별 보수비 산정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2108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입증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2108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도면 대조표·실측 데이터·현장 사진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22036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소요 90일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2036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동의서 징구와 병행 진행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5927667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 하자(미시공·변경시공)는 이 단계의 도면 대조에서 발견됩니다. 법무법인 제이엘 수행 사건 14건에서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보수비의 66.4%가 사용검사 전 하자</a:t>
            </a:r>
            <a:r>
              <a:rPr sz="1010" b="0">
                <a:solidFill>
                  <a:srgbClr val="111418"/>
                </a:solidFill>
                <a:latin typeface="Pretendard"/>
              </a:rPr>
              <a:t>였습니다.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_S13b_Defect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637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8F7033"/>
                </a:solidFill>
                <a:latin typeface="Pretendard"/>
              </a:rPr>
              <a:t>주요 하자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223D5B"/>
                </a:solidFill>
                <a:latin typeface="Pretendard"/>
              </a:rPr>
              <a:t>법무법인 제이엘이 찾아내는 하자는 14종입니다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1853333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「2026 건설감정실무」(서울중앙지방법원 건설소송실무연구회)의 하자 분류와 법무법인 제이엘 수행 사건의 하자내역서를 대조해 정리했습니다.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미시공·변경시공은 사용검사 전 하자로 분류되어 5년 구간에 남습니다.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108" y="1867243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2090" y="1867243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2144" y="1867243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8108" y="1867243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277" y="1867243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108" y="2146414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090" y="2146414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월패드 예비전원장치 · 홈게이트웨이 미시공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2144" y="2146414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8108" y="2146414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277" y="2146414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4108" y="2421009"/>
            <a:ext cx="378025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090" y="2421009"/>
            <a:ext cx="3645700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타일 뒤채움 부족 및 부착강도 부족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2144" y="2421009"/>
            <a:ext cx="627906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8108" y="2421009"/>
            <a:ext cx="1050781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1275" y="2421009"/>
            <a:ext cx="493354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108" y="2823747"/>
            <a:ext cx="378025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90" y="2823747"/>
            <a:ext cx="3645700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방수 두께 부족 · 방수층 축소시공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2144" y="2823747"/>
            <a:ext cx="627906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8108" y="2823747"/>
            <a:ext cx="1050781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/ 변경시공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1275" y="2823747"/>
            <a:ext cx="493354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108" y="3235639"/>
            <a:ext cx="378025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90" y="3235639"/>
            <a:ext cx="3645700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방화문 성능 미달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2144" y="3235639"/>
            <a:ext cx="627906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8108" y="3235639"/>
            <a:ext cx="1050781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275" y="3235639"/>
            <a:ext cx="493354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108" y="3638378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90" y="3638378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대피공간·피난 관련 미시공 및 변경시공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2144" y="3638378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8108" y="3638378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277" y="3638378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-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4108" y="3912972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90" y="3912972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옥상·옥탑 방수층 축소시공 및 바닥 부속 부족시공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92144" y="3912972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8108" y="3912972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277" y="3912972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4108" y="4187567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2090" y="4187567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소방·전기 안전 부속 미시공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2144" y="4187567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8108" y="4187567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21277" y="4187567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7369" y="1867243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#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5351" y="1867243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85405" y="1867243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1369" y="1867243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14538" y="1867243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97369" y="2146414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5351" y="2146414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창호·유리 시공 하자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85405" y="2146414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1369" y="2146414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14538" y="2146414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7369" y="2421009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5351" y="2421009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시멘트 모르타르(미장) 바름 두께 부족시공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85405" y="2421009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1369" y="2421009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14538" y="2421009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97369" y="2695603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5351" y="2695603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상도 미시공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85405" y="2695603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1369" y="2695603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14538" y="2695603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97369" y="2970198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35351" y="2970198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경량철골 천장틀 변경시공 및 부속 미시공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85405" y="2970198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61369" y="2970198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미시공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14538" y="2970198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97369" y="3244792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5351" y="3244792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콘크리트 균열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85405" y="3244792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61369" y="3244792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부실시공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14538" y="3244792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97369" y="3519387"/>
            <a:ext cx="378025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5351" y="3519387"/>
            <a:ext cx="3645700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단열재 변경시공 및 이음부 시공불량 (→ 결로·곰팡이)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85405" y="3519387"/>
            <a:ext cx="627906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61369" y="3519387"/>
            <a:ext cx="1050781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부실시공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94536" y="3519387"/>
            <a:ext cx="493354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97369" y="3931279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5351" y="3931279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부대토목·조경 부족시공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85405" y="3931279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1369" y="3931279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14538" y="3931279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이 14종을 찾아내는 방법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6486" y="456742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설계도서 대조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6486" y="4777945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준공도면·시방서·내역서와 실제 시공을 대조합니다. 눈에 보이지 않는 미시공·변경시공은 이 방법으로만 드러납니다.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6486" y="5241038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14종 중 9종에 적용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69742" y="456742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실측 · 성능시험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69742" y="4777945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두께·뒤채움률을 실측하고, 방화문은 KS 시험기관에 시료를 보내 성능을 확인합니다.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69742" y="5241038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수치로만 드러나는 하자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52997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정보공개청구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52997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시공사가 주지 않는 준공도면·감리보고서·설계변경 내역을 관할 지자체에 청구해 확보합니다.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52997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대조의 전제 자료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2252" y="565207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14종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2252" y="5917513"/>
            <a:ext cx="3376415" cy="257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조사 대상 하자 유형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62180" y="565207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546항목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62180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실제 사건 하자내역서 확인 항목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(공용 463 · 전유 83)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92108" y="565207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66.4%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92108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사용검사 전 하자가 차지한 보수비 비중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(JL 수행 14건 합산)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22036" y="565207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5년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22036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미시공·변경시공이 남는 담보책임 구간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2·3년차 도과 후에도 청구 가능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2576" y="6626882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04439" y="6626882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_S13b2_Defect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유형 분포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14종은 기간 구간과 부위로 이렇게 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기간 구간 · 부위별 분포 — 「2026 건설감정실무」 분류와 JL 하자내역서 대조본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873" y="2178450"/>
            <a:ext cx="92483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873" y="2434738"/>
            <a:ext cx="92483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14종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7729" y="2178450"/>
            <a:ext cx="4170176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2년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7729" y="2453045"/>
            <a:ext cx="41701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4종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1009" y="2178450"/>
            <a:ext cx="4170176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3년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61009" y="2453045"/>
            <a:ext cx="41701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5종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4288" y="2178450"/>
            <a:ext cx="4170176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5년 구간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4288" y="2453045"/>
            <a:ext cx="41701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4종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873" y="2819171"/>
            <a:ext cx="9248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전유부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873" y="3048000"/>
            <a:ext cx="781679" cy="464614"/>
          </a:xfrm>
          <a:prstGeom prst="rect">
            <a:avLst/>
          </a:prstGeom>
          <a:noFill/>
        </p:spPr>
        <p:txBody>
          <a:bodyPr wrap="square" anchor="t" lIns="155603" rIns="155603" tIns="128144" bIns="128144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4종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9423" y="2791711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02</a:t>
            </a:r>
            <a:r>
              <a:rPr sz="1040" b="0">
                <a:solidFill>
                  <a:srgbClr val="111418"/>
                </a:solidFill>
                <a:latin typeface="Pretendard"/>
              </a:rPr>
              <a:t> 타일 뒤채움·부착강도 부족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2702" y="2791711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01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월패드 예비전원·홈게이트웨이 미시공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5981" y="2791711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03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방수 두께 부족·방수층 축소시공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73" y="4064858"/>
            <a:ext cx="9248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공용부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873" y="4293686"/>
            <a:ext cx="781679" cy="464614"/>
          </a:xfrm>
          <a:prstGeom prst="rect">
            <a:avLst/>
          </a:prstGeom>
          <a:noFill/>
        </p:spPr>
        <p:txBody>
          <a:bodyPr wrap="square" anchor="t" lIns="155603" rIns="155603" tIns="128144" bIns="128144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10종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9423" y="3716180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09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미장 바름 두께 부족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9423" y="4066717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10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상도 미시공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9423" y="4417254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11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경량철골 천장틀 변경시공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42702" y="3716180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04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방화문 성능 미달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42702" y="4066717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07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소방·전기 부속 미시공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42702" y="4417254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08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창호·유리 시공 하자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2702" y="4767791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13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단열재 변경시공·이음부 불량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5981" y="3716180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06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옥상·옥탑 방수 축소시공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5981" y="4066717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12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콘크리트 균열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5981" y="4417254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14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부대토목·조경 부족시공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5319698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구간별 종수 — 3년 구간이 가장 많고, 방수·구조는 5년 구간에 남습니다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729" y="5667518"/>
            <a:ext cx="3472706" cy="395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2년 · 4종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7027" y="5667518"/>
            <a:ext cx="4308846" cy="395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3년 · 5종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8648" y="5667518"/>
            <a:ext cx="3472706" cy="395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5년 · 4종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73945" y="5667518"/>
            <a:ext cx="964284" cy="395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별도 1종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125175"/>
            <a:ext cx="16742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2년 · 마감·미장 계열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03569" y="6125175"/>
            <a:ext cx="2016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3년 · 설비·창호·단열 계열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2149" y="6125175"/>
            <a:ext cx="2016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5년 · 방수·구조·토목 계열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20729" y="6125175"/>
            <a:ext cx="246293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별도 · 05 대피공간 (기간 [확인])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항목·부위·기간은 앞 장(주요 하자 유형 14종) 표의 값을 그대로 옮긴 것이며 새로 산정한 값이 없습니다. 기간은 집합건물법 제9조의2 존속기간 구간이고, </a:t>
            </a:r>
            <a:r>
              <a:rPr sz="1040" b="1">
                <a:solidFill>
                  <a:srgbClr val="111418"/>
                </a:solidFill>
                <a:latin typeface="Pretendard"/>
              </a:rPr>
              <a:t>05 대피공간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은 구간 표기를 확정하지 않아 별도로 두었습니다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[확인]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구간은 하자의 성격과 부위에 따라 개별적으로 판단되므로 이 분포는 검토의 출발점이지 결론이 아닙니다.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_S13c_DefectStat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8777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유형별 실제 분포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어떤 하자가 실제로 많이 신청되는지는 공식 통계로 확인됩니다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하심위 하자심사 신청 유형별 비율 ('21~'26.2 평균) · 상위 5종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69297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0234" y="2215063"/>
            <a:ext cx="1791821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기능 불량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6738" y="2160144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18.0%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072" y="2218495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조명·주방후드·인터폰·위생설비 등이 정상 작동하지 않는 결함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745945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234" y="2791711"/>
            <a:ext cx="1791821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들뜸 및 탈락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6738" y="2736792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15.1%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6072" y="2795144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타일·도배·바닥재·가구에서 발생하는 결함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322594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234" y="3377513"/>
            <a:ext cx="1791821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균열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6738" y="3313441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11.1%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6072" y="3371792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콘크리트 균열 · 거의 모든 사건에 포함되는 항목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899243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234" y="3954162"/>
            <a:ext cx="1791821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결로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6738" y="3890090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9.9%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6072" y="3948441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단열 결손에서 비롯되며 겨울에만 드러납니다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4475891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234" y="4530810"/>
            <a:ext cx="1791821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누수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6738" y="4466738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7.6%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6072" y="4525090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방수 부족·시공 불량의 결과로 나타납니다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5225" y="5006774"/>
            <a:ext cx="36283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67840" y="5006774"/>
            <a:ext cx="3573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26164" y="5006774"/>
            <a:ext cx="42122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18%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80" y="5565117"/>
            <a:ext cx="44590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조사 범위를 먼저 정합니다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5812252"/>
            <a:ext cx="3680840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신청이 많은 유형은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이스트힐아파트에서도 나타날 가능성이 높아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90일 하자조사의 우선 항목으로 넣습니다.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1898" y="5565117"/>
            <a:ext cx="44592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건수와 금액은 다릅니다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1898" y="5812252"/>
            <a:ext cx="3680990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위 비율은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신청 건수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기준입니다. 인정 금액은 부위 면적과 보수 공법으로 정해지므로 순위가 달라질 수 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5760" y="5565117"/>
            <a:ext cx="44590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결로는 계절을 탑니다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760" y="5812252"/>
            <a:ext cx="3680840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결로 9.9%는 </a:t>
            </a:r>
            <a:r>
              <a:rPr sz="1010" b="1">
                <a:solidFill>
                  <a:srgbClr val="223D5B"/>
                </a:solidFill>
                <a:latin typeface="Pretendard"/>
              </a:rPr>
              <a:t>겨울에만 드러납니다.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조사 시기를 놓치면 같은 하자를 그 해에 확인하지 못합니다.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막대 길이는 최대값 18.0%를 기준으로 한 비례 표시이며, 표에 있는 값 외에 새로 산정한 수치는 없습니다. 상위 5종의 합이 100%가 되지 않는 것은 그 밖의 유형이 있기 때문입니다. 출처 표기(발표 기관·자료명·기준일)는 원문 확인 후 확정합니다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[확인]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신청 건수 비율이며 인정 금액 비율이 아닙니다.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_S13c2_DesignMis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0758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설계도서 상이시공의 비중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2.7%는 낮아 보이지만 미시공·변경시공의 단서입니다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나머지 유형 · 비율은 낮아도 판단이 갈리는 항목입니다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2471351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2360" y="2032000"/>
            <a:ext cx="1416908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9207" y="2032000"/>
            <a:ext cx="10766304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무엇을 말하는가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361513"/>
            <a:ext cx="2050306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오염 및 변색 · 파손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2360" y="2361513"/>
            <a:ext cx="1185333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6.8% · 6.4%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9207" y="2361513"/>
            <a:ext cx="885476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마감재 관련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013961"/>
            <a:ext cx="156885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설계도서 상이시공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9657" y="3013961"/>
            <a:ext cx="5914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2.7%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9207" y="2916995"/>
            <a:ext cx="1076630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설계와 다르게 시공된 것 ·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미시공·변경시공의 단서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29" y="3259666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부착·접지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2360" y="3259666"/>
            <a:ext cx="1416908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1.2%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9207" y="3259666"/>
            <a:ext cx="1076630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조명·에어컨·통신설비 배선연결 불량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신청이 많은 순서와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금액이 큰 순서는 다릅니다.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기능 불량은 건수가 많지만 세대당 금액이 작고, 방수·균열 같은 공용부 항목은 건수가 적어도 금액이 큽니다.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설계도서 상이시공 2.7%</a:t>
            </a:r>
            <a:r>
              <a:rPr sz="1120" b="0">
                <a:solidFill>
                  <a:srgbClr val="111418"/>
                </a:solidFill>
                <a:latin typeface="Pretendard"/>
              </a:rPr>
              <a:t>는 낮아 보이지만, 이것이 곧 미시공·변경시공이며 </a:t>
            </a:r>
            <a:r>
              <a:rPr sz="1120" b="1">
                <a:solidFill>
                  <a:srgbClr val="111418"/>
                </a:solidFill>
                <a:latin typeface="Pretendard"/>
              </a:rPr>
              <a:t>5년 구간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남는 항목입니다. 세대 신고만으로는 드러나지 않아 도면 대조로 찾아냅니다.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세대가 신고하는 하자는 눈에 보이는 것에 몰립니다.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벽 안·바닥 아래의 하자는 신고되지 않은 채 기간이 지나갑니다.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[1차 출처 · 공공저작물]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이 통계는 하심위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하자심사 신청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기준이며 소송에서 인정된 금액 분포와는 다릅니다.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3_S13d_Before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4831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마감 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마감이 덮이고 나면 다시 볼 수 없는 것들이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바닥 온돌 단열재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 바닥에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단열재가 깔린 상태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이 단계에서만 두께와 규격을 실물로 확인할 수 있고, 몰탈이 덮이면 파취 없이는 볼 수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난방배관 배열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배관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간격과 경로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그대로 드러난 상태입니다. 설계도면의 배관 간격과 나란히 놓고 대조할 수 있는 유일한 시점입니다.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마감 전 실내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벽체와 바닥이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마감재로 덮이기 직전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이때 남은 사진 한 장이 뒤에 감정 단계에서 다툼을 줄여 줍니다.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확인한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4_S14_Wall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세대 홈네트워크 설비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홈게이트웨이는 "장비가 없다"가 아니라 "당시 기준을 충족했는가"로 다툽니다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두 항목을 나눠서 봅니다 · 성격이 다릅니다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2160144"/>
            <a:ext cx="679456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361513"/>
            <a:ext cx="6794568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예비전원장치 (APU)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645261"/>
            <a:ext cx="5596695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설계도서에 기재된 예비전원장치가 시공되지 않으면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정전 시 홈네트워크가 정지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합니다. 아래 홈게이트웨이 논쟁과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별개 항목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이므로 따로 특정해 청구합니다.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675" y="2160144"/>
            <a:ext cx="679456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675" y="2361513"/>
            <a:ext cx="679456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홈게이트웨이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675" y="2626954"/>
            <a:ext cx="5596695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「지능형 홈네트워크 설비 설치 및 기술기준」(국토교통부 고시)은 홈게이트웨이를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세대단자함 또는 세대단말기(월패드)에 포함해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설치할 수 있도록 합니다. 따라서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월패드 내장형도 적법한 시공 형태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870174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월패드 예비전원장치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135615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단자함을 열어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설치 여부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확인합니다. 사용승인도면 기재와 대조합니다.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5837" y="5870174"/>
            <a:ext cx="7134333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홈게이트웨이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5837" y="6126462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"장비가 없다"가 아니라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"당시 기준을 충족했는가"</a:t>
            </a:r>
            <a:r>
              <a:rPr sz="1040" b="0">
                <a:solidFill>
                  <a:srgbClr val="111418"/>
                </a:solidFill>
                <a:latin typeface="Pretendard"/>
              </a:rPr>
              <a:t>로 다툽니다.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_S14b_Gateway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236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홈게이트웨이 판단 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홈게이트웨이는 설치·연동·고지 세 단계로 판단합니다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홈게이트웨이는 세 단계로 판단합니다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1416908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8576" y="2032000"/>
            <a:ext cx="5166039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무엇을 확인하나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4432" y="2032000"/>
            <a:ext cx="8071616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판단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58479"/>
            <a:ext cx="69545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① 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8576" y="2361513"/>
            <a:ext cx="516603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사업승인일</a:t>
            </a:r>
            <a:r>
              <a:rPr sz="1120" b="0">
                <a:solidFill>
                  <a:srgbClr val="111418"/>
                </a:solidFill>
                <a:latin typeface="Pretendard"/>
              </a:rPr>
              <a:t>과 그때 시행 중이던 기술기준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4432" y="2361513"/>
            <a:ext cx="8071616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이후 개정된 보안 요건은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소급 적용되지 않습니다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801150"/>
            <a:ext cx="69545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②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8576" y="2704184"/>
            <a:ext cx="516603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설계도서에 홈게이트웨이가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별도 장비로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기재되어 있는가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4432" y="2704184"/>
            <a:ext cx="8071616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별도 기재가 있으면 내장형 시공은 변경시공 문제로 넘어갑니다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143822"/>
            <a:ext cx="69545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③ 기능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8576" y="3046855"/>
            <a:ext cx="516603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내장형이라면 그 기능이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실제로 구현</a:t>
            </a:r>
            <a:r>
              <a:rPr sz="1120" b="0">
                <a:solidFill>
                  <a:srgbClr val="111418"/>
                </a:solidFill>
                <a:latin typeface="Pretendard"/>
              </a:rPr>
              <a:t>되어 있는가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4432" y="3046855"/>
            <a:ext cx="8071616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기능이 없으면 명칭과 무관하게 다툴 여지가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97621"/>
            <a:ext cx="3684144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이 항목은 다른 하자와 성격이 다릅니다.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장비가 없다는 사실만으로 하자가 되지 않습니다.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시공사 측은 내장형이면 적법이라고 반박하며, 그 주장은 고시 문언에 근거가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상호연동(KS X 4501)·NAT·시험성적서 보유는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필수 요건이 아니라는 반론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제기됩니다. 이 항목만으로 하자를 구성하기는 어렵습니다.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전유부분 설비 하자로 존속기간이 짧습니다. 그리고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사업승인 시점과 당시 시행 고시를 먼저 확보해야</a:t>
            </a:r>
            <a:r>
              <a:rPr sz="1120" b="0">
                <a:solidFill>
                  <a:srgbClr val="111418"/>
                </a:solidFill>
                <a:latin typeface="Pretendard"/>
              </a:rPr>
              <a:t> 판단이 시작됩니다.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본 제안서는 시공사 측 반대 논리를 함께 제시합니다. 개별 단지의 판단은 사업승인일과 당시 시행 기준을 확인한 뒤 드립니다. 「지능형 홈네트워크 설비 설치 및 기술기준」 고시 원문은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확인 대기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_S15_TileB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64101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욕실·발코니 타일 뒤채움·부착강도 부족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타일 탈락면 사진만으로는 부족률이 보이지 않습니다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8880" y="1702486"/>
            <a:ext cx="5168714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사진만으로는 부족률을 알 수 없어 단면 모식도와 뒤채움률(%)을 함께 제시합니다.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78880" y="2260828"/>
            <a:ext cx="627283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판정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8880" y="2553729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뒤채움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7745" y="2553729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타일 배면에 접착재가 채워진 면적 비율(뒤채움률)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8880" y="2765968"/>
            <a:ext cx="839344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부착강도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7745" y="2765968"/>
            <a:ext cx="4361405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인장 부착강도 </a:t>
            </a:r>
            <a:r>
              <a:rPr sz="940" b="0">
                <a:solidFill>
                  <a:srgbClr val="223D5B"/>
                </a:solidFill>
                <a:latin typeface="Pretendard"/>
              </a:rPr>
              <a:t>0.39N/㎟ 미만이면 하자</a:t>
            </a:r>
            <a:r>
              <a:rPr sz="940" b="0">
                <a:solidFill>
                  <a:srgbClr val="111418"/>
                </a:solidFill>
                <a:latin typeface="Pretendard"/>
              </a:rPr>
              <a:t> · 2026 개정판이 처음으로 제시한 기준입니다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8880" y="3144680"/>
            <a:ext cx="839344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중첩 제외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7745" y="3144680"/>
            <a:ext cx="4361405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떠붙이기 타일의 들뜸·파손·탈락 재시공비를 산정할 때 </a:t>
            </a:r>
            <a:r>
              <a:rPr sz="940" b="0">
                <a:solidFill>
                  <a:srgbClr val="223D5B"/>
                </a:solidFill>
                <a:latin typeface="Pretendard"/>
              </a:rPr>
              <a:t>뒤채움 부족 보수비와 중첩되는 면적은 제외</a:t>
            </a:r>
            <a:r>
              <a:rPr sz="940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8880" y="3587463"/>
            <a:ext cx="627283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8880" y="3880364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7745" y="3880364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표본 타일 탈락 후 배면 촬영·뒤채움률 실측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8880" y="4092603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47745" y="4092603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부착강도 시험으로 기준 미달 여부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8880" y="4304842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7745" y="4304842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시방서상 시공법(떠붙임·압착 등)과 실제 시공 대조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탈락면 사진만으로는 부족률이 드러나지 않습니다.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부착강도 </a:t>
            </a:r>
            <a:r>
              <a:rPr sz="1120" b="1">
                <a:solidFill>
                  <a:srgbClr val="111418"/>
                </a:solidFill>
                <a:latin typeface="Pretendard"/>
              </a:rPr>
              <a:t>0.39N/㎟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갈림선입니다. 시공 부위·바탕 접착 상태·들뜸 범위를 함께 보아 철거 후 재시공과 접착재 주입 보수 중 어느 쪽인지가 정해집니다.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마감공사 하자는 2년 구간이지만, 미시공·변경시공으로 판단되면 5년 구간에 남습니다. 그 판단 근거를 조사 단계에서 확보합니다.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7_S16_Waterproof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437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욕실·발코니 방수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방수 두께는 원·피고 감정인 공동조사 실측으로 증명합니다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848864"/>
            <a:ext cx="3518808" cy="543697"/>
          </a:xfrm>
          <a:prstGeom prst="rect">
            <a:avLst/>
          </a:prstGeom>
          <a:noFill/>
        </p:spPr>
        <p:txBody>
          <a:bodyPr wrap="square" anchor="t" lIns="109837" rIns="109837" tIns="219675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현장 실측 · 파취조사 후 바닥 두께 계측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43149" y="5775639"/>
            <a:ext cx="3744812" cy="622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측정 방법 모식도 (보조 사례 · 옥탑·옥상 노출우레탄, 기준 3mm 대비 실측 1.82mm) · 우측 감정 실측값(발코니·욕실)과는 별개 사례입니다.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8965" y="1794018"/>
            <a:ext cx="5363747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8965" y="2099647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57829" y="2099647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원·피고 감정인 공동조사에서 바닥 파취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8965" y="2343350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829" y="2343350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방수층 두께를 계측기로 실측·촬영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8965" y="2587052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829" y="2587052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설계도서 기준 두께와 대조해 부족분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8_S16b_Standard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3568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방수 두께 기준의 현실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두께 기준은 현장마다 달라 설계도서 확인이 먼저입니다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94018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2026 개정판이 달라진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99647"/>
            <a:ext cx="839344" cy="372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통일 기준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1441" y="2099647"/>
            <a:ext cx="11046025" cy="372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개정판은 두께의 통일 기준을 제시하지 않고, 감정인이 현장 여건에 따라 </a:t>
            </a:r>
            <a:r>
              <a:rPr sz="940" b="0">
                <a:solidFill>
                  <a:srgbClr val="223D5B"/>
                </a:solidFill>
                <a:latin typeface="Pretendard"/>
              </a:rPr>
              <a:t>4㎜ · 6㎜ · 벽 6㎜/바닥 10㎜</a:t>
            </a:r>
            <a:r>
              <a:rPr sz="940" b="0">
                <a:solidFill>
                  <a:srgbClr val="111418"/>
                </a:solidFill>
                <a:latin typeface="Pretendard"/>
              </a:rPr>
              <a:t> 등을 기준으로 할 수 있다고 밝혔습니다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515829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그래서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1441" y="2515829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해당 단지 </a:t>
            </a:r>
            <a:r>
              <a:rPr sz="940" b="0">
                <a:solidFill>
                  <a:srgbClr val="223D5B"/>
                </a:solidFill>
                <a:latin typeface="Pretendard"/>
              </a:rPr>
              <a:t>설계도서에 무엇이 적혀 있는지 확인하는 것이 먼저</a:t>
            </a:r>
            <a:r>
              <a:rPr sz="940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865795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왜 도해를 함께 쓰나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1441" y="3171424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사진만으로는 기준선과 실측선의 차이가 보이지 않습니다. 단면 모식도에 두 선을 겹쳐 그려야 부족분이 드러납니다.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원·피고 감정인 공동조사에서 파취 후 방수 두께를 실측하고 설계도서 기준과 대조합니다. 수치가 사진 안에 들어가도록 계측 장면을 촬영합니다.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두께 기준은 현장마다 다릅니다. 개정판이 통일 기준을 두지 않았고, 공사시방서 기재에 따라 두께를 기준으로 삼기 어려운 경우도 있습니다.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설계도서 확보가 이 항목의 출발점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방수공사는 구조상·안전상 하자로 5년 구간입니다. 누수가 드러난 뒤에는 남은 기간이 길지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9_S17_FireD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9322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방화문 성능 미달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외관은 멀쩡해도 내화·차연 성능시험에서 미달이 드러납니다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34484" y="1913009"/>
            <a:ext cx="79943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내화 시험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2907" y="1913009"/>
            <a:ext cx="11661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2268-1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34484" y="2178450"/>
            <a:ext cx="4437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47453" y="2178450"/>
            <a:ext cx="265789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비차열 1시간 이상 + 차열 30분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34484" y="2443891"/>
            <a:ext cx="115512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차연 성능 시험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0468" y="2443891"/>
            <a:ext cx="101563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2846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4484" y="2709333"/>
            <a:ext cx="4437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16908" y="2709333"/>
            <a:ext cx="29529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차압 25Pa, 누설량 0.9㎥/min·㎡ 미만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34484" y="2974774"/>
            <a:ext cx="724615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불합격 비율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2551" y="2974774"/>
            <a:ext cx="4245475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2026 개정판은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당기는 면과 미는 면의 합격률을 모두 고려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해 산정하도록 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8880" y="3606342"/>
            <a:ext cx="5168714" cy="660159"/>
          </a:xfrm>
          <a:prstGeom prst="rect">
            <a:avLst/>
          </a:prstGeom>
          <a:noFill/>
        </p:spPr>
        <p:txBody>
          <a:bodyPr wrap="square" anchor="t" lIns="128144" rIns="128144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8F7033"/>
                </a:solidFill>
                <a:latin typeface="Pretendard"/>
              </a:rPr>
              <a:t>시료 선정부터 성적서 접수까지 감정 절차 전 과정에 입회합니다. 기술적으로 까다로워 다른 법인이 잘 다루지 못하는 항목입니다.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시료 선정 → 방화문 철거 → 국가공인기관 성능시험 → 시험 결과 → 감정서 반영 순으로 진행하며, 전 과정에 입회합니다.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내화 KS F 2268-1 비차열 1시간 이상, 차연 KS F 2846 차압 25Pa에서 누설량 0.9㎥/min·㎡ 미만이 기준입니다.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시료 철거부터 성적서 접수까지 장기간이 소요됩니다. 소송 초기에 시료 선정과 철거를 집행해야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0_S17b_ConcreteCr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콘크리트 균열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균열은 어느 법인이나 청구합니다. 차이는 원인을 분류해 공법을 관철하는가입니다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원인 분류 · 「2026 건설감정실무」 [표 8] 균열발생 원인과 패턴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재료적 성질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2612538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7개 원인. 시멘트·골재·배합에서 비롯됩니다.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63567"/>
            <a:ext cx="2612538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13개 원인.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불충분한 다짐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은 수개월 후 불규칙한 표층 균열로,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거푸집 조기 제거</a:t>
            </a:r>
            <a:r>
              <a:rPr sz="1120" b="0">
                <a:solidFill>
                  <a:srgbClr val="111418"/>
                </a:solidFill>
                <a:latin typeface="Pretendard"/>
              </a:rPr>
              <a:t>는 5~6일 만에 규칙적인 표층 균열로 나타납니다.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사용·환경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63567"/>
            <a:ext cx="2612538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3개 원인. 사용 중 환경 조건에서 비롯됩니다.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구조·외력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63567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4개 원인. 하중·변형에서 비롯됩니다.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4324" y="4844878"/>
            <a:ext cx="5510198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슬래브에 </a:t>
            </a:r>
            <a:r>
              <a:rPr sz="1080" b="0">
                <a:solidFill>
                  <a:srgbClr val="111418"/>
                </a:solidFill>
                <a:latin typeface="Pretendard"/>
              </a:rPr>
              <a:t>된 채 균열이 동반된 상태입니다. 균열 원인을 재료·시공·구조 중 어디로 볼지 가르는 근거가 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4324" y="4844878"/>
            <a:ext cx="6689124" cy="291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3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타 단지 조사 사례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6242" y="5149220"/>
            <a:ext cx="118423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폐자재가 매립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1_S17b2_CrackReme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2315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원인별 보수공법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균열 원인 분류가 끝나야 보수공법과 재시공비가 정해집니다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원인이 정해지면 보수공법이 정해집니다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표면처리 공법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표층에 그친 미세 균열에 적용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주입식 공법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81873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균열 내부에 보수재를 주입해 채움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충전식 공법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81873"/>
            <a:ext cx="2612538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비교적 큰 폭. 균열을 따라 U형·V형으로 절단한 뒤 충전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도포식 공법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81873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망상균열에 적합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균열 사진은 흔합니다. 다투는 지점은 사진이 아니라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원인 분류 → 공법 결정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의 논리를 감정 단계에서 관철하는가입니다.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97621"/>
            <a:ext cx="3674533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외벽 층이음 </a:t>
            </a:r>
            <a:r>
              <a:rPr sz="1120" b="1">
                <a:solidFill>
                  <a:srgbClr val="111418"/>
                </a:solidFill>
                <a:latin typeface="Pretendard"/>
              </a:rPr>
              <a:t>0.3㎜ 미만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균열은 2026 개정판에서 충전식을 원칙으로 하되, 누수·결로 발생 여부와 수밀·기밀 조치, 부위의 내구성을 고려해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예외적으로 표면처리</a:t>
            </a:r>
            <a:r>
              <a:rPr sz="1120" b="0">
                <a:solidFill>
                  <a:srgbClr val="111418"/>
                </a:solidFill>
                <a:latin typeface="Pretendard"/>
              </a:rPr>
              <a:t>를 적용할 수 있게 됐습니다.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 일위대가도 바뀌었습니다.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노무 공량·단가를 소 제기 시점 기준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으로 적용하므로, 제소가 늦어지면 적용 단가 자체가 달라집니다.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근거: 「2026 건설감정실무」(서울중앙지방법원 건설소송실무연구회, 사법발전재단, 2026. 1.) 제3장 3.가 콘크리트 균열 하자 52~56면. [표 8]의 출처는 「실무자를 위한 콘크리트구조물 유지관리매뉴얼」(사단법인 한국콘크리트학회, 2008) 19면입니다.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2_S17c_MortarThic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717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미장 바름 두께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법원 발간 실무서가 예시로 직접 든 하자입니다 · 설계 18㎜, 실측 12㎜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원문 예시 · 계단실 벽체 미장 두께 부족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62198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상세도상 치수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18㎜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1081" y="219675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실측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462198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평균 </a:t>
            </a:r>
            <a:r>
              <a:rPr sz="1120" b="1">
                <a:solidFill>
                  <a:srgbClr val="223D5B"/>
                </a:solidFill>
                <a:latin typeface="Pretendard"/>
              </a:rPr>
              <a:t>12㎜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6㎜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219675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462198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사용검사 전의 변경시공</a:t>
            </a:r>
            <a:r>
              <a:rPr sz="1120" b="0">
                <a:solidFill>
                  <a:srgbClr val="111418"/>
                </a:solidFill>
                <a:latin typeface="Pretendard"/>
              </a:rPr>
              <a:t> 행위로 발생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8576" y="219675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8576" y="2462198"/>
            <a:ext cx="2612538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 없이 시공했을 경우의 시공비용과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 있는 상태대로의 시공비용의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차액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205605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발생 위치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60834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공용부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4180" y="360834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계단실 · E/V홀 · AV·PD·EPS·TPS 내부 · 필로티 · PIT · 주민공동시설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39654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전유부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84180" y="39654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욕실 이중천장 내 조적벽 · 세대 조적벽체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4322576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조사 방법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4322576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미장면을 국부 절개해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복수 지점에서 바름 두께를 실측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한 뒤 평균값을 상세도 치수와 대조합니다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"두께 부족은 소액이라 다투지 않는다"는 통념을 뒤집는 항목입니다. 법원 실무서가 직접 예시로 든 하자라 감정 신청 항목에서 빠지면 그만큼 청구액이 줄어듭니다.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산정 방식이 원문에 확정되어 있습니다 ·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철거·재시공비가 아니라 시공비 차액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이 점을 감정 단계에서 미리 짚어야 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미장공사는 마감공사로 보면 2년 구간입니다.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사용검사 전 변경시공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임을 조사 단계에서 확정해 두어야 5년 구간을 다툴 수 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근거: 「2026 건설감정실무」 42면 [예시] 계단실 벽체 미장(시멘트 모르타르) 두께 부족. 실제 사건 청구 근거로는 건축공사 표준시방서(2013) 15000 미장공사 15015 시멘트 모르타르 바름 3.3 바름두께가 인용됩니다.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_S17d_Ins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05184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단열재 변경시공 · 결로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단열재는 사용검사 전에 바뀌고, 결로는 사용검사 뒤에 나타납니다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원문 예시 · 설계와 실제의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THK 85㎜ · 가등급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4361477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사용승인도면 형별성능관계내역에 기재된 사양입니다.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실제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THK 60㎜ · 나등급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81873"/>
            <a:ext cx="4361477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두께와 등급이 모두 낮은 자재로 시공되었습니다.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96756"/>
            <a:ext cx="436166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98126"/>
            <a:ext cx="436166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결로 · 곰팡이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81873"/>
            <a:ext cx="360095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시공은 사용검사 이전, 하자 현상은 사용검사일 이후에 나타납니다.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288" y="4465308"/>
            <a:ext cx="5510198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단열재가 놓일 자리에 </a:t>
            </a:r>
            <a:r>
              <a:rPr sz="1080" b="0">
                <a:solidFill>
                  <a:srgbClr val="111418"/>
                </a:solidFill>
                <a:latin typeface="Pretendard"/>
              </a:rPr>
              <a:t>된 상태입니다. 사용승인도면의 형별성능관계내역에 적힌 두께·등급과 대조해 미시공·변경시공에 해당하는지를 판단합니다.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288" y="4465308"/>
            <a:ext cx="6689124" cy="291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3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타 단지 조사 사례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9595" y="4769650"/>
            <a:ext cx="135338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우레탄폼이 충전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4_S17d2_Condensation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결로 조사 방법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결로 발생 시점을 봐야 하자 여부와 기간 구간이 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그래서 기간 판단이 갈리고, 조사 방법도 정해집니다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05225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원문의 판단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105225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시공은 사용검사 이전이나 결로가 사용검사일 이후 발생했다면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사용검사 이후 하자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로 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62341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실무상 의미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62341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보수청구 공문으로 발생 시점을 특정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 두는 절차가 담보책임기간 판단을 좌우합니다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819457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두께·등급 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819457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단열재를 국부 절개해 제품 표기를 촬영하고 형별성능관계내역과 대조합니다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176573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결로 부위 조사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176573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발생 부위를 열화상으로 촬영해 단열 결손 위치를 특정합니다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단열재는 벽 안에 있어 눈으로 확인할 수 없습니다. 절개 조사 없이는 설계와 다른 자재가 들어갔다는 사실 자체가 드러나지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단열공사의 담보책임 구간은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3년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다만 결로가 사용검사 이후 발생한 경우 그 발생 시점을 기준으로 판단합니다.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결로는 겨울에만 드러납니다. 발생한 해에 보수청구 공문을 남겨두지 않으면 발생 시점을 나중에 증명하기 어렵습니다.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근거: 「2026 건설감정실무」 43면 [예시1]. 결로 하자의 판정 기준·보수 범위는 같은 책 제3장 3.나(73면)에 별도로 규정되어 있으나 본문 미확보분이므로 기준 수치는 인용하지 않았습니다.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5_S17e_CommonAre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공용부 조사 대상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세대 안만 보면 절반입니다. 금액이 큰 항목은 공용부에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부위별로 무엇을 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50306"/>
            <a:ext cx="1761981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50306"/>
            <a:ext cx="3395819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조사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9837" y="2050306"/>
            <a:ext cx="6932598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조사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720" y="2476786"/>
            <a:ext cx="91714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지하주차장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7765" y="2416432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벽·기둥·천장·바닥 균열, 바닥 마감 두께, 누수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9837" y="2416432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균열 폭·길이 실측, 마감 절개 실측, 누수 흔적 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720" y="2751952"/>
            <a:ext cx="81225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옥상·옥탑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691599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방수층 두께, 신축줄눈 규격, 파라펫 마감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9837" y="2691599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파취 후 두께 실측, 준공내역서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720" y="3027119"/>
            <a:ext cx="117288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계단실·E/V홀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7765" y="2966765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미장 바름 두께, 균열, 마감재 사양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9837" y="2966765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국부 절개 실측, 상세도 대조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720" y="3302286"/>
            <a:ext cx="127375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EPS·TPS·PIT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241932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단열재 두께·등급, 방화 구획, 배관 보온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9837" y="3241932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절개 후 제품 표기 촬영, 형별성능관계내역 대조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720" y="3577452"/>
            <a:ext cx="443744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외벽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7765" y="3517099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균열, 도장 사양, 창호 주변 코킹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9837" y="3517099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고소 조사 또는 드론 촬영 후 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720" y="3852619"/>
            <a:ext cx="112785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부대토목·조경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7765" y="3792265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포장 두께, 방근시트 유무, 배수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9837" y="3792265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단면 절개, 준공도면 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전유부 하자는 세대별 금액이 작지만 세대 수를 곱하면 커지고, 공용부 하자는 항목 하나가 곧 큰 금액입니다. 두 축을 함께 봐야 청구가 완성됩니다.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지하주차장·옥상·외벽은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철근콘크리트·방수공사</a:t>
            </a:r>
            <a:r>
              <a:rPr sz="1120" b="0">
                <a:solidFill>
                  <a:srgbClr val="111418"/>
                </a:solidFill>
                <a:latin typeface="Pretendard"/>
              </a:rPr>
              <a:t>로 5년 구간, 내력구조부에 해당하면 10년 구간입니다.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공용부는 관리주체가 이미 부분 보수를 해 버린 경우가 많습니다. 보수 이력과 지출 내역을 먼저 확보해야 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_S17f_RevisedIt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90052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개정으로 달라진 항목 · 균열·타일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균열은 충전식 원칙, 타일은 부착강도 0.39N/㎟ 기준이 새로 생겼습니다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2119870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711639"/>
            <a:ext cx="2822832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711639"/>
            <a:ext cx="9711861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041153"/>
            <a:ext cx="1761981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콘크리트 균열</a:t>
            </a:r>
          </a:p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층이음 0.3㎜ 미만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041153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2015년부터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충전식 공법으로 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2041153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충전식을 원칙으로 하되, 누수·결로 발생 여부, 수밀성·기밀성 확보를 위한 시공상 조치, 부위의 내구성·품질 상태를 고려해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예외적으로 표면처리 공법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적용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693601"/>
            <a:ext cx="16120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균열 보수 일위대가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596635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2016 개정판의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2014년 단가</a:t>
            </a:r>
            <a:r>
              <a:rPr sz="1120" b="0">
                <a:solidFill>
                  <a:srgbClr val="111418"/>
                </a:solidFill>
                <a:latin typeface="Pretendard"/>
              </a:rPr>
              <a:t>를 그대로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596635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인력품은 유지하되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노무 공량·노무비 단가는 소 제기 시점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기준, 재료비는 성능이 확인된 제품 중 가장 저렴한 단가를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249083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타일 부착강도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152117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3152117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인장 부착강도 0.39N/㎟ 미만이면 하자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로 판정. 시공 부위·바탕 접착 상태·들뜸 범위를 고려해 철거 후 재시공 또는 접착재 주입 보수를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027" y="3804565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타일 재시공비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7765" y="3707599"/>
            <a:ext cx="2822832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중첩 처리 기준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82990" y="3707599"/>
            <a:ext cx="971186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떠붙이기 공법 타일의 들뜸·파손·탈락 재시공비 산정 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뒤채움 부족 보수비와 중첩되는 면적은 제외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9207" y="5101309"/>
            <a:ext cx="1077802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타일 부착강도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9207" y="5385057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개정으로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0.39N/㎟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기준이 새로 생겼습니다. 현장에서 인장 시험기로 측정합니다.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7_S17g_RevisedItem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5168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개정으로 달라진 항목 · 방수·도장·방화문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방수 두께는 통일 기준이 없고, 방화문은 성능시험으로 판정합니다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2119870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711639"/>
            <a:ext cx="2822832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711639"/>
            <a:ext cx="9711861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138119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액체방수 두께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041153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 상세도·공사시방서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2041153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통일 기준을 제시하지 않습니다.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감정인이 현장 여건을 고려해 ① 4㎜ ② 6㎜ ③ 벽 6㎜ / 바닥 10㎜ 등을 기준으로 삼을 수 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693601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무늬코트 상도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596635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596635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수성싸인펜을 이용한 방식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원칙적 판단 기준으로. 준공 후 상당 기간 경과 시 샘플을 채취해 외부전문기관 성분분석 시험 의뢰 가능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249083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방화문 성능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152117"/>
            <a:ext cx="2822832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3152117"/>
            <a:ext cx="971186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당기는 면과 미는 면의 합격률을 모두 고려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 불합격 비율을 산정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5333" y="4683125"/>
            <a:ext cx="1030937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방화문 성능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5333" y="4966872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KS 시험기관에 시료를 보내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성능을 확인합니다. 육안으로는 판정할 수 없습니다.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8_S17h_Field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3247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세대 내부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세대 안에서 확인하는 것은 마감 뒤에 가려진 시공 상태입니다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결로 · 곰팡이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 전 벽면에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점 모양으로 광범위하게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번졌습니다. 한 지점이 아니라 벽면 전반에 나타나면 생활 습관이 아니라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단열·방습층 시공 상태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먼저 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벽체 접합부 · 폼 충전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두 벽체가 만나는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접합부 틈을 우레탄폼으로 메운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상태입니다. 단열이 끊기는 지점이므로 결로가 나타난 위치와 겹치는지 대조합니다.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창호 하부 · 바닥 물 고임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 전 창호 아래 바닥에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물이 고인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상태입니다. 창호 주변 코킹과 물끊기 처리를 따라 유입 경로를 확인합니다.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확인하고 잘라낸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9_S17i_FieldComm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3238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공용부·지하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금액이 큰 항목은 마감 아래와 흙 속에 묻혀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지하주차장 바닥 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방수시트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시공면과 이음부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시트 겹침 폭과 실링 상태가 시방서 기준을 충족하는지가 쟁점이 됩니다. 면적이 커서 인정 금액도 큽니다.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되메우기 · 잡석 혼입 토사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방수보호층 위로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굵은 돌과 잡석이 섞인 토사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그대로 덮이고 있습니다. 다짐이 충분하지 않으면 침하로 이어지므로 굴착 조사로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지하 구조체 · 시공 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지하 구조체의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철근 배근과 방수 보호층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드러난 단계입니다. 흙과 콘크리트로 덮이고 나면 확인할 수 없어,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시공 중 사진이 유일한 근거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되기도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확인하고 잘라낸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0_S17j_Pene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0017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관통부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배관이 지나간 자리는 그 아래에 흔적을 남깁니다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관통부 우레탄폼 충전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천장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배관 관통부를 우레탄폼으로 메우는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작업입니다. 폼은 채움재이지 방수재가 아니어서 무엇으로 마감했는지가 쟁점이 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관통부 아래 벽면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관통부 아래로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넓게 흘러내린 자국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남았습니다. 자국의 시작점이 관통부와 겹치는지가 원인을 가르는 단서가 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바닥 개구부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바닥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개구부가 열린 채 폐자재가 남은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상태입니다. 그대로 덮이면 층간 누수와 소음의 통로가 되므로 조사 항목에 넣습니다.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확인한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1_D5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787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31712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수행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249569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EXECUTION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2517483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어떻게 진행하는가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소송 절차 11단계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감정 대응 체계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5080000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보고 체계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226450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473585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전체 일정표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62003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2_S18_Litiga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9487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소송 절차 11단계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감정 절차가 소송 전체 소요기간을 좌우합니다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41261" y="1913009"/>
            <a:ext cx="361952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기간을 좌우하는 구간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1261" y="2306594"/>
            <a:ext cx="36195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신청 ~ 감정서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41261" y="2498810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11개월. 감정인 지정·현장조사·보고서 작성이 이어지는 최장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1261" y="3137529"/>
            <a:ext cx="36195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261" y="3329745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4개월. 오류·누락이 있으면 보완을 신청합니다. 단지에 따라 6~10개월까지 늘어납니다.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41261" y="3968463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변론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41261" y="4151527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6개월. 감정 결과를 두고 2~3회 공방이 진행됩니다.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1261" y="4790245"/>
            <a:ext cx="36195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판결 이후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261" y="4982461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판결원리금 수령 약 2개월, 보수공사 착공까지 약 6개월이 더 소요됩니다.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792" y="6027351"/>
            <a:ext cx="147695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1심 평균 소요기간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34512" y="6004468"/>
            <a:ext cx="1731593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약 2년 6개월 종결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3_S18b_Process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0361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소송 절차 전체 흐름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소장 접수부터 하자보수 공사까지 11단계로 진행됩니다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1 ~ 5단계 · 감정을 준비하는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43891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소장 제출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90311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관할 법원에 소 제기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4389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답변서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송달일부터 30일 이내 제출이 원칙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4389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신청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항목을 특정해 신청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4389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감정인 지정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법원이 후보자 중 지정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4389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기일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조사 방법·범위 협의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165560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6 ~ 11단계 · 감정 결과를 다투고 회수하는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027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027" y="3906966"/>
            <a:ext cx="213543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현장 감정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027" y="4153386"/>
            <a:ext cx="213543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원·피고 공동조사·실측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0967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0967" y="390696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감정서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0967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단지 규모에 따라 수개월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2060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2060" y="390696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보완·변론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2060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오류·누락에 보완신청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154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3154" y="3906966"/>
            <a:ext cx="214732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판결 선고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3154" y="4153386"/>
            <a:ext cx="214732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인용 금액·책임제한 확정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4390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4390" y="390696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판결금 수령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4390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집행 또는 임의 이행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5484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55484" y="390696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하자보수 공사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55484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수령액으로 보수 집행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감정이 절차의 중심입니다. 앞의 다섯 단계는 감정을 준비하는 과정이고, 뒤의 여섯 단계는 감정 결과를 다투는 과정입니다.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현장 감정에서 감정서 제출까지가 가장 길어 단지 규모에 따라 수개월이 걸립니다. 이 구간에 움직임이 없어 보여도 진행 중입니다.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존속기간은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소 제기 시점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으로 판단합니다. 절차가 길다고 미루면 청구할 수 있는 항목 자체가 줄어듭니다.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기간 표기는 일반적인 진행 예시이며 사건별로 달라집니다. 개별 단지의 예상 일정은 착수 후 사건 진행에 따라 별도로 보고드립니다.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4_S19_Consent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2689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채권양도 동의서 징구 지원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동의서 징구는 법인이 직접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17117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현장 접수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64252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입주자대표회의·관리사무소와 협의해 현장 접수 창구를 운영합니다.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198" y="2517117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문자 접수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764252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구분소유자 대상 문자 안내와 회신을 통해 서명·날인 서류를 받습니다.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3603" y="2517117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주민설명회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3603" y="2755099"/>
            <a:ext cx="4228756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동의서의 목적과 절차를 직접 설명해 서명률을 높입니다.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252" y="3569729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JL 수행 사건 채권양도비율 · 판결문 확인 15건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252" y="3835171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93.28%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252" y="4146378"/>
            <a:ext cx="45412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단순평균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2203" y="3835171"/>
            <a:ext cx="4541245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75.01 ~ 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2203" y="4155531"/>
            <a:ext cx="45412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확인된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2155" y="3835171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11건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2155" y="4146378"/>
            <a:ext cx="45412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중 90% 이상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4439279"/>
            <a:ext cx="13859338" cy="458444"/>
          </a:xfrm>
          <a:prstGeom prst="rect">
            <a:avLst/>
          </a:prstGeom>
          <a:noFill/>
        </p:spPr>
        <p:txBody>
          <a:bodyPr wrap="square" anchor="t" lIns="0" rIns="0" tIns="91531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기준. 판결문에 양도비율이 기재된 15건만 집계했으며, 개별 사건의 양도비율을 보장하지 않습니다.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052540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양도는 이르게 받을수록 유리합니다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5317981"/>
            <a:ext cx="11853333" cy="5338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4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나아가 여러 사건에서 </a:t>
            </a:r>
            <a:r>
              <a:rPr sz="1080" b="1">
                <a:solidFill>
                  <a:srgbClr val="111418"/>
                </a:solidFill>
                <a:latin typeface="Pretendard"/>
              </a:rPr>
              <a:t>2·3차로 늦게 양도받은 세대의 2년차·3년차 하자가 제척기간 도과로 소멸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한 사실이 판결문에서 확인됩니다. 늦은 양도는 비율만이 아니라 청구 가능한 공종까지 줄입니다. 그래서 법인이 접수를 직접 맡습니다.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5_S19b_Assignment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채권양도 실무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양도서를 몇 세대에서 받느냐가 청구 범위를 그대로 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진행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43891"/>
            <a:ext cx="2611943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설명회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717914"/>
            <a:ext cx="2611943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세대에 소송 취지와 절차를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서식 배포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동의서·채권양도서 세대별 배포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징구·검수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회수분의 서명·인적사항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양도 통지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취합 명단으로 확정일자부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차수 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717914"/>
            <a:ext cx="217524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미회수 세대분을 뒤에 붙여 추가 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586602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채권양도 동의서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131468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양도서를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몇 세대에서 받느냐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청구 범위를 그대로 정합니다.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837" y="586602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받은 뒤가 더 일입니다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837" y="6131468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서명 확인 · 인적사항 대조 · 미회수 관리가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전부 수작업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사무직원 36명 구성입니다.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6_S19b2_PracticeIss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채권양도 실무의 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실무는 세대 접촉과 서류 보관에서 자주 막힙니다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실무에서 자주 막히는 지점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05225"/>
            <a:ext cx="126221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소유자가 바뀐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105225"/>
            <a:ext cx="1062314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채권은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양도 당시의 구분소유자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에게 있습니다. 매매 시점과 하자 발생 시점을 확인해 누구에게 받을지 정합니다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682159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임차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682159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임차인이 아니라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소유자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에게 받아야 합니다. 관리비 고지 명단과 등기부를 대조합니다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3039275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회수가 더딘 단지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3039275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 세대를 기다리지 않습니다.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1차 양도분으로 먼저 소를 제기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하고 추가분을 차수로 붙입니다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396391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법인·기관 소유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396391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인감증명·법인등기부가 함께 필요해 시간이 더 걸립니다. 먼저 착수합니다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입주자대표회의가 자기 이름으로 손해배상을 청구하려면 세대로부터 채권을 양도받아야 합니다. 양도서 징구가 소송의 실질적 출발점입니다.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JL 수행 사건 판결문 15건에서 확인된 양도비율은 평균 </a:t>
            </a:r>
            <a:r>
              <a:rPr sz="1120" b="1">
                <a:solidFill>
                  <a:srgbClr val="111418"/>
                </a:solidFill>
                <a:latin typeface="Pretendard"/>
              </a:rPr>
              <a:t>93.28%</a:t>
            </a:r>
            <a:r>
              <a:rPr sz="1120" b="0">
                <a:solidFill>
                  <a:srgbClr val="111418"/>
                </a:solidFill>
                <a:latin typeface="Pretendard"/>
              </a:rPr>
              <a:t>, 중앙값 95.25%, 90% 이상이 11건입니다.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징구에는 수개월이 걸립니다. 존속기간이 임박한 단지는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1차 양도분만으로 먼저 제소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 기간을 지켜야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양도비율은 판결문에 기재된 값을 집계한 것으로, 개별 단지의 회수율을 예측하는 수치가 아닙니다. 회수율은 단지 여건과 설명회 진행에 따라 달라집니다.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7_S20_Appraisal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771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감정 대응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감정 절차 전 과정에 협력 기술진이 함께합니다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감정 항목 사전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260828"/>
            <a:ext cx="2828781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조사 결과를 바탕으로 감정신청 항목을 구체화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7513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7513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협력 기술진 투입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7513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감정인 현장조사에 협력 기술진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2450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2450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현장조사 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2450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계측 방법·기준 적용을 직접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7387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7387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사후 이의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387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감정보완신청으로 오류·누락 대응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099" y="3267675"/>
            <a:ext cx="138827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협력 진단업체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099" y="3487351"/>
            <a:ext cx="13882770" cy="3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㈜좋은도시관리</a:t>
            </a:r>
            <a:r>
              <a:rPr sz="1080" b="0">
                <a:solidFill>
                  <a:srgbClr val="111418"/>
                </a:solidFill>
                <a:latin typeface="Pretendard"/>
              </a:rPr>
              <a:t> · 건축 특급기술자 2인이 배치되어 감정인 현장조사에 함께 입회합니다. 법인 내부 건축시공기술사와 같은 자리에서 계측 방법과 기준 적용을 확인합니다.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869030"/>
            <a:ext cx="1442170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125318"/>
            <a:ext cx="14421708" cy="340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30630" y="4626775"/>
            <a:ext cx="1273459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감정 절차 전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0630" y="4910523"/>
            <a:ext cx="7274926" cy="3574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4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 항목 정리부터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현장조사 입회와 사후 이의</a:t>
            </a:r>
            <a:r>
              <a:rPr sz="1120" b="0">
                <a:solidFill>
                  <a:srgbClr val="111418"/>
                </a:solidFill>
                <a:latin typeface="Pretendard"/>
              </a:rPr>
              <a:t>까지 협력 기술진이 함께합니다.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8_S20b_Supplement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3766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감정보완신청 사유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감정서가 도착하면 이 네 가지를 먼저 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감정보완신청 사유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항목 누락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370666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신청한 하자 항목이 감정서에서 빠졌거나 판단이 없는 경우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2774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계측 방법 오류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2774" y="2370666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기준과 다른 방법으로 측정했거나 표본 수가 부족한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6522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단가 적용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6522" y="2370666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공법에 맞지 않는 단가나 시점이 다른 단가를 적용한 경우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0270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수량 산출 오류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0270" y="2370666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면적·연장·세대수 산출이 도면·명단과 맞지 않는 경우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2026 개정판은 감정인의 재량을 넓혔습니다.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기준이 하나로 정해지지 않은 항목이 늘었다는 것은, 감정 과정에서 어떤 기준이 적용되는지가 곧 결과가 된다는 뜻입니다.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감정보완신청 사유는 위 네 가지가 대부분입니다. 어느 하나만 관철되어도 인정 금액이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3045" y="3537550"/>
            <a:ext cx="1193790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감정보완신청의 뼈대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3045" y="3821298"/>
            <a:ext cx="7274926" cy="3574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4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누락 항목 · 기준 오적용 · 수량 오류가 주된 사유입니다.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변론 종결 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9_S20c_Appraisal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감정 현장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감정 현장은 이 세 단계로 진행됩니다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원·피고 공동조사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감정인·원고 대리인·피고 측이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함께 현장에 섭니다.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이 자리에 들어가느냐가 결과를 좌우합니다.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파취 · 실측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바닥을 파취해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방수층과 마감 두께를 계측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 실제 조사 사례입니다.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그 자리에서 기록합니다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측정값과 위치를 현장에서 남겨야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감정보완신청의 근거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실물 사진은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확인한 것만 실었습니다. 도해는 절차와 판단 기준을 나타낸 것으로 특정 단지의 상태를 나타내지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0_S21_Reporting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보고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진행 상황은 정기적으로, 정해진 창구로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98810"/>
            <a:ext cx="4244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27639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223D5B"/>
                </a:solidFill>
                <a:latin typeface="Pretendard"/>
              </a:rPr>
              <a:t>월 1회 정기 + 주요 시점 수시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29693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정기 보고와 별개로, 절차가 움직이는 시점마다 즉시 알립니다.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8048" y="2498810"/>
            <a:ext cx="4244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8048" y="2727639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223D5B"/>
                </a:solidFill>
                <a:latin typeface="Pretendard"/>
              </a:rPr>
              <a:t>서면 보고 + 요청 시 대면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3029693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입주자대표회의가 총회·주민설명회에 그대로 쓸 수 있는 형식으로 정리합니다.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1304" y="2498810"/>
            <a:ext cx="4244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전담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1304" y="2727639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223D5B"/>
                </a:solidFill>
                <a:latin typeface="Pretendard"/>
              </a:rPr>
              <a:t>담당 변호사 직통 연락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1304" y="3029693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별도 보고가 나가는 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소장 접수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3899243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사건번호·재판부·피고 확정 내역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5945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채권양도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5945" y="3899243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차수별 양도 세대수와 비율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9315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감정 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9315" y="3899243"/>
            <a:ext cx="2357852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지정, 감정료 납부, 현장조사 일정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2684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감정서 도착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2684" y="3899243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 항목과 금액, 보완신청 여부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판결 선고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6054" y="3899243"/>
            <a:ext cx="2357852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인용 금액, 책임제한 비율, 항소 여부 검토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4301981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연락은 이 경로로 오갑니다 · 여러 사람에게 나뉘어 물어보지 않으셔도 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027" y="4732180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Pretendard"/>
              </a:rPr>
              <a:t>단지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027" y="4906090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입주자대표회의 · 관리사무소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027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질의·자료 제출·의결 결과 전달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234" y="4622342"/>
            <a:ext cx="551019" cy="101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1423" y="4732180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EBD9B4"/>
                </a:solidFill>
                <a:latin typeface="Pretendard"/>
              </a:rPr>
              <a:t>단일 창구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1423" y="4906090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담당 변호사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1423" y="5116612"/>
            <a:ext cx="2434738" cy="355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FFFFFF"/>
                </a:solidFill>
                <a:latin typeface="Pretendard"/>
              </a:rPr>
              <a:t>모든 질의가 여기로 모이고, 여기서 답이 나갑니다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4630" y="4622342"/>
            <a:ext cx="551019" cy="101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3819" y="4732180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Pretendard"/>
              </a:rPr>
              <a:t>법인 내부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3819" y="4906090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담당 사무직원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3819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채권양도 서류 징구·검수, 세대 명단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7027" y="4622342"/>
            <a:ext cx="551019" cy="101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36216" y="4732180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Pretendard"/>
              </a:rPr>
              <a:t>협력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6216" y="4906090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협력 기술진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6216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Pretendard"/>
              </a:rPr>
              <a:t>현장조사 입회, 도면 대조, 감정 항목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절차는 진행이 길어 입주자대표회의가 가장 답답해하는 구간입니다. 움직임이 없는 달에도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현재 어느 단계이고 다음이 언제인지</a:t>
            </a:r>
            <a:r>
              <a:rPr sz="1010" b="0">
                <a:solidFill>
                  <a:srgbClr val="111418"/>
                </a:solidFill>
                <a:latin typeface="Pretendard"/>
              </a:rPr>
              <a:t>를 보고합니다.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1_S21b_Report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보고서 수록 항목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보고서에는 진행 상황만이 아니라 판단에 필요한 것을 담습니다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정기 보고서 구성 · 월 1회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2119870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32000"/>
            <a:ext cx="12406549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수록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49183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진행 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354076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현재 단계 · 직전 기일 내용 · 다음 기일과 예정 사항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788136"/>
            <a:ext cx="8270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693029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차수별 양도 세대수와 비율 · 미회수 세대 현황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127088"/>
            <a:ext cx="4776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3031981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감정인 지정 현황 · 감정료 납부 내역 · 현장조사 일정과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466041"/>
            <a:ext cx="4776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쟁점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370934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피고 주장 요지 · 이에 대한 대응 방향 · 판단이 필요한 사항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804994"/>
            <a:ext cx="4776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비용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709887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기간 중 발생한 실비와 집행 내역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4143947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요청 사항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4048840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입주자대표회의가 준비하거나 결정해 주어야 할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0702" y="5269498"/>
            <a:ext cx="1135210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보고서에 담는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10702" y="5553246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진행 상황만이 아니라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판단 근거와 결정할 사항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함께 담습니다.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2_S21b2_Adhoc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수시 보고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소장 접수·감정서 도착·판결 선고 시점마다 별도로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별도 보고가 나가는 시점 · 소장 접수 · 감정서 도착 · 판결 선고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303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수록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303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사건번호·재판부·피고 확정 내역 / 인정 항목과 금액·보완신청 여부 / 인용 금액·책임제한 비율·항소 검토 의견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5459" y="3268819"/>
            <a:ext cx="1114121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수시 보고 세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5459" y="3552567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소장 접수 · 감정서 도착 · 판결 선고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때마다 별도로 보고드립니다.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입주자대표회의는 총회와 주민설명회에서 설명해야 하는 위치에 있습니다. 그대로 쓸 수 있는 형식으로 정리해 드립니다.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정기 보고는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월 1회</a:t>
            </a:r>
            <a:r>
              <a:rPr sz="1120" b="0">
                <a:solidFill>
                  <a:srgbClr val="111418"/>
                </a:solidFill>
                <a:latin typeface="Pretendard"/>
              </a:rPr>
              <a:t>, 위 세 시점에는 별도 보고가 나갑니다. 움직임이 없는 달에도 현재 단계와 다음 일정을 알려드립니다.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 구간은 길어 답답한 시기입니다. 이 구간에 연락이 끊기는 것이 가장 흔한 불만이라 정기 보고를 고정합니다.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3_S22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5094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전체 일정표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착수부터 보수공사까지 전체 일정입니다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9295" y="2013693"/>
            <a:ext cx="4437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2681" y="2013693"/>
            <a:ext cx="6015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소제기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1006" y="2013693"/>
            <a:ext cx="4437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2772" y="2013693"/>
            <a:ext cx="4437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2860" y="2013693"/>
            <a:ext cx="7593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보수공사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하자조사 · 동의서 징구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3개월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정밀 조사와 채권양도 동의서 징구를 병행합니다.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963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소장 접수 · 채권양도 통지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3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2개월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3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소를 제기합니다.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441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감정 · 변론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1441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18개월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441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신청부터 변론기일까지 가장 긴 구간입니다.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918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판결 · 보수공사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918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확정 후 순차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918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후 회수 절차와 보수공사로 이어집니다.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4_S22b_AfterJudg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판결 이후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판결은 끝이 아닙니다. 받고, 고치는 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선고 이후의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임의 이행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4361477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피고가 판결금을 지급하면 그대로 종결됩니다.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98126"/>
            <a:ext cx="43614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강제집행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63567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지급하지 않으면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채권압류·추심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등 집행 절차로 회수합니다.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96756"/>
            <a:ext cx="436166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98126"/>
            <a:ext cx="436166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항소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63567"/>
            <a:ext cx="360095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어느 쪽이든 항소할 수 있습니다. 인용 금액과 책임제한 비율을 보고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실익을 검토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 의견을 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56494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선고 이후의 갈래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5914939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피고가 지급하면 종결되고, 지급하지 않으면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강제집행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회수합니다. 어느 쪽이든 항소할 수 있습니다.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837" y="56494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회수까지가 수행입니다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837" y="5914939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채권압류 · 추심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등 집행 절차를 법인이 이어서 진행합니다. 판결로 끝나지 않습니다.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5_S22b2_Post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회수 이후의 보수공사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회수금은 보수공사로 이어져야 하자소송의 목적이 완성됩니다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회수 이후 · 보수공사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05225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용도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105225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판결금은 하자보수에 쓰는 것이 원칙입니다. 사용 방법은 관리규약과 총회 의결에 따릅니다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62341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순서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62341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금액이 한정되어 있으므로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안전·누수 관련 항목부터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집행하는 것이 일반적입니다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819457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주의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819457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보수공사를 먼저 해 버리면 나중에 그 항목의 하자 상태를 증명하기 어려워집니다.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 전 자체 보수는 신중해야 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2000" y="3655540"/>
            <a:ext cx="1247684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판결 이후가 남습니다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32000" y="3939288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회수금이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보수공사로 이어져야</a:t>
            </a:r>
            <a:r>
              <a:rPr sz="1120" b="0">
                <a:solidFill>
                  <a:srgbClr val="111418"/>
                </a:solidFill>
                <a:latin typeface="Pretendard"/>
              </a:rPr>
              <a:t> 하자소송의 목적이 완성됩니다.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판결금 수령과 보수공사까지가 실제 목적입니다. 선고 이후 절차도 같은 창구에서 계속 진행합니다.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책임제한이 적용되면 인정 금액 전액이 아니라 그 비율만큼 지급됩니다. 판결문에서 확인된 사례는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구간입니다.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판결이 확정되어도 상대가 자력이 없으면 회수가 어렵습니다. 소 제기 단계에서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피고의 자력과 보증기관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함께 검토합니다.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책임제한 비율은 JL 수행 사건 판결문 7건에서 확인된 범위이며, 개별 사건의 비율은 준공 후 경과 기간·사용 상태 등을 반영해 법원이 정합니다.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6_D6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787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3891920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비용과 조건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214641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COST &amp;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2517483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무엇을 부담하는가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보수 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비용 부담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86414"/>
            <a:ext cx="4645225" cy="405301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유의사항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1455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7_S23_Fee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보수 조건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착수금과 성공보수는 법인 내부 확정 후 표기합니다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53729"/>
            <a:ext cx="422875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착수금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82558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[협의]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48000"/>
            <a:ext cx="4228756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법인 내부 확정 후 구체 금액을 수록합니다.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553729"/>
            <a:ext cx="422875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성공보수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4198" y="2782558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[협의]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4198" y="3048000"/>
            <a:ext cx="3491927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회수액 기준 비율로 산정하며, 확정 후 구체 비율을 수록합니다.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3603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패소 시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3603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[협의]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3603" y="3057153"/>
            <a:ext cx="3491927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방침·착수금 반환 여부를 확정 후 수록합니다.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661261"/>
            <a:ext cx="11853333" cy="492262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시장 관행 참고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착수금 무료, 성공보수 약 25% 수준이 일반적입니다. JL의 조건은 이 기준선과 대비해 법인 내부에서 확정합니다.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확정된 비용 부담 구조 · 착수 단계 비용은 법인이 부담합니다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4503351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5261" y="4503351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입주자대표회의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7423" y="4503351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414" y="4869477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하자조사·진단 비용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5261" y="4869477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7423" y="4869477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전액 부담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414" y="5235603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법원 감정료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5261" y="5235603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7423" y="5235603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전액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414" y="5601729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인지대·송달료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5261" y="5601729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7423" y="5601729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전액 대납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414" y="5967855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5261" y="5967855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협조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7423" y="5967855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법인이 직접 수행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착수금·성공보수·패소 시 처리가 법인 내부에서 확정되는 대로 실제 조건으로 갱신됩니다. 확정 전까지 구체 금액·비율을 추정해 기재하지 않습니다.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8_S24_Cos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771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비용 부담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감정료·인지대·송달료는 법인이 전액 대납합니다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8324" y="1867243"/>
            <a:ext cx="472083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0F4FC"/>
                </a:solidFill>
                <a:latin typeface="Pretendard"/>
              </a:rPr>
              <a:t>감정료 환산 예시 (시장 단가 세대당 10~40만원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8324" y="2096072"/>
            <a:ext cx="4720830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FFFFFF"/>
                </a:solidFill>
                <a:latin typeface="monospace"/>
              </a:rPr>
              <a:t>1,000세대 × 20만원 = 2억원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8324" y="2398126"/>
            <a:ext cx="472083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개별 단지의 실제 감정료는 감정 항목·규모에 따라 달라집니다.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5261" y="2828324"/>
            <a:ext cx="4280014" cy="1022058"/>
          </a:xfrm>
          <a:prstGeom prst="rect">
            <a:avLst/>
          </a:prstGeom>
          <a:noFill/>
        </p:spPr>
        <p:txBody>
          <a:bodyPr wrap="square" anchor="t" lIns="164756" rIns="164756" tIns="128144" bIns="128144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시 소송비용 중 일부는 패소자(시공사 등)로부터 회수될 수 있습니다. 다만 회수 여부와 범위는 법원 판단에 따라 달라지며, 이를 단정적으로 예측하지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비용 구조를 먼저 밝히는 이유는, 진행 중에 예상하지 못한 지출이 생기면 그때부터 신뢰가 무너지기 때문입니다.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금액이 가장 큰 항목은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이며, 단지 세대수와 조사 항목 수에 따라 법원이 정합니다.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감정료를 기한 내 납부하지 않으면 감정 신청이 각하될 수 있습니다. 납부 시점을 미리 안내드립니다.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9_S24b_Cost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비용 발생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비용은 한꺼번에 나가지 않습니다. 절차 단계마다 나뉘어 발생합니다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단계별 발생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2002709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시점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6234" y="2032000"/>
            <a:ext cx="2471351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6864" y="2032000"/>
            <a:ext cx="10180503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49326"/>
            <a:ext cx="91330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 제기 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6234" y="2352360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인지대 · 송달료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6864" y="2352360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법원 납부금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91997"/>
            <a:ext cx="10879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 신청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6234" y="2695031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6864" y="2695031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감정인에게 납부. 단지 규모에 따라 금액이 달라집니다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134668"/>
            <a:ext cx="10879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 진행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6234" y="3037702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조사 실비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6864" y="3037702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시료 채취 · 시험 의뢰 등에 드는 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477340"/>
            <a:ext cx="10879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보완 감정 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6234" y="3380373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추가 감정료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6864" y="3380373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보완신청이 받아들여진 경우에 한해 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820011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판결 이후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6234" y="3723045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집행 비용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6864" y="3723045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임의 이행되지 않을 때만 발생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22594" y="5103025"/>
            <a:ext cx="1082488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비용이 나가는 시점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22594" y="5386773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인지대·송달료는 소 제기 시, 감정료는 감정 개시 시입니다.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법인이 선지급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0_S24b2_Cost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비용 부담 방식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비용은 항목별로 선지급·정산 부담 방식이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부담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489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법무법인 대납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489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감정료·인지대·송달료를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법무법인이 먼저 납부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하고 판결금 수령 시 정산하는 방식으로 진행합니다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79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협의 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79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착수금·성공보수 요율과 패소 시 처리 방식은 단지 여건에 맞춰 협의해 계약서에 명시합니다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4414" y="3425424"/>
            <a:ext cx="1168015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위임계약서에 적히는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4414" y="3709172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착수금·성공보수율·패소 시 처리는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확정 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이며 협의로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입주자대표회의가 가장 걱정하는 것은 "돈이 언제 얼마나 나가느냐"입니다. 시점을 먼저 보여드립니다.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금액이 가장 큰 것은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이며 단지 세대수와 조사 항목 수에 따라 법원이 정합니다.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감정료를 기한 내 납부하지 않으면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 신청이 각하</a:t>
            </a:r>
            <a:r>
              <a:rPr sz="1120" b="0">
                <a:solidFill>
                  <a:srgbClr val="111418"/>
                </a:solidFill>
                <a:latin typeface="Pretendard"/>
              </a:rPr>
              <a:t>될 수 있습니다. 납부 시점을 미리 안내드립니다.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1_S25_Disclai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0399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유의사항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감정 결과와 법원 판단에 따라 결과는 달라질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839783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0918" y="1839783"/>
            <a:ext cx="928916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청구액은 감정 결과에 따라 변동합니다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0918" y="2050306"/>
            <a:ext cx="928916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소장 접수 시 청구액은 잠정치입니다(실무상 세대당 200만원 내외로 책정). 감정 결과가 나온 뒤 청구취지변경신청으로 최종 확정합니다.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58047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0918" y="2580474"/>
            <a:ext cx="935708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소요 기간은 사건마다 다릅니다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918" y="2790996"/>
            <a:ext cx="935708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1심 평균 약 2년 6개월입니다. 감정보완신청과 준비서면 공방이 길어지면 더 걸릴 수 있고, 단지에 따라 이 구간만 6~10개월이 소요됩니다.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332116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0918" y="3321164"/>
            <a:ext cx="118758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감정금액 전액이 인용되지는 않습니다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0918" y="3531686"/>
            <a:ext cx="1187585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법원은 자연노후·사용관리상 과실 등을 이유로 하자보수비의 일정 비율만 인용합니다. 법무법인 제이엘 수행 사건 중 판결문에서 확인된 책임제한 비율은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969" b="0">
                <a:solidFill>
                  <a:srgbClr val="111418"/>
                </a:solidFill>
                <a:latin typeface="Pretendard"/>
              </a:rPr>
              <a:t>(7건)입니다.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06185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918" y="4061854"/>
            <a:ext cx="10817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늦게 양도받은 세대는 일부 공종이 소멸할 수 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0918" y="4272377"/>
            <a:ext cx="1081719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여러 사건에서 2·3차로 늦게 양도받은 세대의 2년차·3년차 하자가 제척기간 도과로 소멸한 사실이 판결문에서 확인됩니다. 동의서 징구가 이를수록 유리합니다.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2252" y="5272216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그래서 법무법인 제이엘이 하는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5528504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 전 항목 정리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252" y="5739027"/>
            <a:ext cx="2792741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조사 결과로 감정 항목을 구체화해 누락을 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2180" y="5528504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현장조사 입회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2180" y="5739027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계측 기준 적용을 직접 확인합니다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108" y="5528504"/>
            <a:ext cx="337641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감정보완신청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2108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오류·누락이 있으면 보완을 신청합니다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2036" y="5528504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동의서 조기 징구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2036" y="5739027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제척기간 도과로 잃는 공종을 줄입니다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2_D7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7105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22903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17846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2807455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무엇부터 시작하는가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예상 질의응답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3_S30_FA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81313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8467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예상 질의응답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07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83"/>
              </a:lnSpc>
            </a:pPr>
            <a:r>
              <a:rPr sz="2380" b="1">
                <a:solidFill>
                  <a:srgbClr val="FFFFFF"/>
                </a:solidFill>
                <a:latin typeface="Pretendard"/>
              </a:rPr>
              <a:t>입주자대표회의가 자주 묻는 질문입니다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85809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비용은 언제, 얼마나 부담하나요?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207776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감정료·인지대·송달료는 법무법인 제이엘이 전액 대납합니다. 착수금과 성공보수는 법인 내부 확정 후 안내합니다.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3981" y="185809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소송은 얼마나 걸리나요?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3981" y="207776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 평균 약 2년 6개월이 소요됩니다. 감정보완신청·준비서면 공방 진행에 따라 기간은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346289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채권양도 동의서를 다 못 받으면 어떻게 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368257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미양도 세대 비율만큼 청구 규모가 줄어듭니다. 현장·문자 접수와 주민설명회로 동의서 징구를 법인이 직접 지원합니다.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981" y="346289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패소하면 어떻게 되나요?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981" y="368257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방침과 착수금 반환 여부는 법인 내부 확정 후 위임계약서에 명시해 안내합니다.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506770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판결금은 실적 평균만큼 받을 수 있나요?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5287376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세대당 평균 329만원은 과거 18건의 실적 참고치이며, 개별 단지의 회수액은 감정 결과와 법원 판단에 따라 달라집니다.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981" y="506770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이미 도과한 하자는 청구할 수 없나요?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5287376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공종별로 존속기간이 다릅니다. 도과한 공종은 정직하게 표시하고, 남은 구간(예: 주요구조부·지반공사)에 청구를 집중합니다.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4_S30b_FA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자주 묻는 질문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입주자대표회의에서 가장 많이 나오는 질문을 정리했습니다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3299711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711639"/>
            <a:ext cx="8662544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87603"/>
            <a:ext cx="331362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이미 시공사가 보수해 준 곳도 청구되나요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2068612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보수가 제대로 되지 않았거나 재발했다면 청구 대상입니다. 다만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보수 이력과 지출 내역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있어야 하므로 자료를 먼저 확보합니다.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574324"/>
            <a:ext cx="31820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세대 동의를 다 받아야 시작할 수 있나요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455333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아닙니다. 1차 양도분으로 소를 제기하고 추가분을 차수로 붙일 수 있습니다.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존속기간이 임박했다면 이 방식이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961045"/>
            <a:ext cx="309577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소송하면 아파트 값이 떨어지지 않나요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2842054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하자를 방치해 보수되지 않은 상태가 지속되는 쪽이 자산 가치에 불리하다는 것이 일반적인 판단입니다. 결정은 총회에서 하십니다.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347765"/>
            <a:ext cx="182971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얼마를 받을 수 있나요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3228774"/>
            <a:ext cx="8662544" cy="637608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 결과와 책임제한 비율에 따라 정해지므로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착수 전에 금액을 단정해 말씀드릴 수 없습니다.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수행 실적의 세대당 평균은 규모감을 잡기 위한 참고치입니다.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2954" y="4984606"/>
            <a:ext cx="1041482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주민 설명회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954" y="5268354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법인이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직접 방문해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제안 내용과 채권양도 절차를 설명드립니다.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5_S30c_FAQ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1601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자주 묻는 질문 · 계속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비용·기간·중도 매도에 관한 질문도 자주 나옵니다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3299711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711639"/>
            <a:ext cx="8662544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87603"/>
            <a:ext cx="139420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얼마나 걸리나요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2068612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 구간이 가장 길어 단지 규모에 따라 달라집니다. 1심 진행 흐름은 앞의 절차 11단계에서 설명드린 대로입니다.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574324"/>
            <a:ext cx="2897108" cy="3781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기존 관리업체·다른 법인과 이미 상담했는데 문제되나요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455333"/>
            <a:ext cx="8662544" cy="637608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상담 자체는 문제되지 않습니다. 다만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이미 체결한 위임계약이 있으면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계약 관계를 먼저 정리해야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3173855"/>
            <a:ext cx="331362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소송 중에 세대를 매도하면 어떻게 되나요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3054864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이미 양도받은 채권은 그대로 유지됩니다. 다만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양도 이전에 매도한 세대</a:t>
            </a:r>
            <a:r>
              <a:rPr sz="1120" b="0">
                <a:solidFill>
                  <a:srgbClr val="111418"/>
                </a:solidFill>
                <a:latin typeface="Pretendard"/>
              </a:rPr>
              <a:t>는 새 소유자에게서 다시 받아야 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560576"/>
            <a:ext cx="296415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공사를 먼저 하고 소송하면 안 되나요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3441585"/>
            <a:ext cx="8662544" cy="637608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권하지 않습니다. 보수해 버리면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하자 상태를 감정으로 증명하기 어려워집니다.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긴급한 안전·누수 항목은 사진과 견적을 남기고 진행하십시오.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금액과 기간은 단정하지 않습니다. 확정할 수 없는 것을 확정해 말씀드리면 나중에 신뢰가 무너집니다.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세대당 평균 329만원은 JL 수행 18건(9,979세대)의 실적 평균이며,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개별 단지의 예상액이 아닙니다.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"조금 더 지켜보자"가 가장 많은 답변이지만, 그 사이 2년차·3년차 항목이 도과합니다. 남은 기간부터 계산해 보시길 권합니다.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6_S31_Next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4017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다음 단계 및 연락처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이스트힐아파트과 함께 다음 단계를 진행하겠습니다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제안 설명회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입주자대표회의·주민 대상 제안 내용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27791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법인이 직접 방문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8360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360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 제기 의결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8360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 의결 및 변호사 선임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8360" y="2227791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안건 초안 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4144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144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하자조사 착수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4144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90일 하자조사와 채권양도 동의서 징구 병행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4" y="2227791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비용 법인 부담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9927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27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소장 접수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9927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 제기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27" y="2227791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인지대·송달료 대납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착수를 위해 준비해 주실 자료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8180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사용검사필증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180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기산일 확정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1927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하자보수보증서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1927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보증기관·금액·기간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675" y="3615495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하자보수 요청 공문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5675" y="3816864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시공사 회신 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9423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입주자모집공고문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9423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 카탈로그 포함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4399806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 접수대장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180" y="460117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 보유분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27" y="4399806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입주자대표회의 명부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1927" y="460117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회장·감사·동대표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5675" y="4399806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구분소유자 명부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5675" y="460117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 징구용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9423" y="4399806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준공도면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9423" y="4592022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없으면 정보공개청구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864" y="5793945"/>
            <a:ext cx="55391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법무법인 제이엘 · 주사무소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864" y="6013621"/>
            <a:ext cx="5539122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서울 서초구 서초대로53길 15 정원빌딩 4층 · 02-537-0123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18564" y="5793945"/>
            <a:ext cx="540457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분사무소 · 홈페이지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18564" y="6013621"/>
            <a:ext cx="540457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경기 화성시 동탄 · 1899-4252 · www.jllawfirm.co.kr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7_S31b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196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착수 전 준비 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선임이 정해지면 단지에서 준비해 주실 것은 다음과 같습니다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① 서류 · 관리사무소 보유분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303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필수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303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 접수대장 · 하자보수 요구 공문과 회신 · 관리규약 · 입주자대표회의 구성 및 의결 자료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2382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있으면 좋음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2382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기존 하자조사 보고서 · 자체 보수 지출 내역 · 사용검사(사용승인) 관련 서류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8173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저희가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68173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준공도면 · 공사시방서 · 형별성능관계내역 · 감리보고서 ·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824980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관리사무소 보유 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090422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하자 접수대장 · 보수 요구 공문과 회신 · 관리규약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그대로 청구의 근거가 됩니다. 보존 연한이 지나면 폐기되므로 착수 시점에 먼저 사본을 확보합니다.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5837" y="5824980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세대에서 받는 서류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5837" y="6090422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전유부분 손해배상은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세대가 채권자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동의서 없이는 그 세대 몫을 청구할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8_S31b2_List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640720"/>
            <a:ext cx="358053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착수 전 준비 사항 · 명단·일정 [고정]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채권양도용 세대 명단과 설명회·총회 일정을 미리 정해 주시면 맞춥니다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② 명단 · 채권양도에 필요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06303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세대 명단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4180" y="206303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동·호수 및 소유자 성명. 등기부와 대조합니다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372382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소유권 변동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84180" y="2372382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최근 매매로 소유자가 바뀐 세대는 별도로 표시해 주시면 처리가 빨라집니다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2733074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③ 일정 · 미리 정해 주시면 맞춥니다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093622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설명회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093622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주민 대상 소송 설명회 일자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40297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총회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4180" y="340297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선임 의결 및 소송 진행 의결 예정일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자료가 늦으면 조사가 늦고, 조사가 늦으면 소 제기가 늦습니다. 준비 항목을 미리 알려드립니다.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결정이 원칙이므로 착수 직후 바로 넣습니다.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 두시기 바랍니다.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9_S32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878702"/>
            <a:ext cx="169406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36360"/>
            <a:ext cx="6147515" cy="13048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단지의 하자를 기록으로 남기는</a:t>
            </a:r>
          </a:p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일부터 시작하겠습니다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800864"/>
            <a:ext cx="6855711" cy="1407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이 제안서는 하자소송이 어떤 절차로, 무엇을 근거로 진행되는지를 설명하기 위해 작성했습니다. </a:t>
            </a:r>
            <a:r>
              <a:rPr sz="1150" b="1">
                <a:solidFill>
                  <a:srgbClr val="EBD9B4"/>
                </a:solidFill>
                <a:latin typeface="Pretendard"/>
              </a:rPr>
              <a:t>회수 금액을 예측하거나 결과를 보장하지 않았습니다.</a:t>
            </a:r>
            <a:r>
              <a:rPr sz="1150" b="0">
                <a:solidFill>
                  <a:srgbClr val="FFFFFF"/>
                </a:solidFill>
                <a:latin typeface="Pretendard"/>
              </a:rPr>
              <a:t> 확정할 수 없는 것을 확정해 말씀드리지 않는 것이 저희가 지키는 원칙입니다.</a:t>
            </a:r>
          </a:p>
          <a:p>
            <a:pPr algn="l">
              <a:lnSpc>
                <a:spcPts val="2050"/>
              </a:lnSpc>
            </a:pPr>
          </a:p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 남은 담보책임 존속기간부터 계산해 보시고, 검토가 필요한 부분은 언제든 말씀해 주십시오.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EBD9B4"/>
                </a:solidFill>
                <a:latin typeface="Pretendard"/>
              </a:rPr>
              <a:t>시급성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4741333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39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EBD9B4"/>
                </a:solidFill>
                <a:latin typeface="Pretendard"/>
              </a:rPr>
              <a:t>전문성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5399" y="4741333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보이지 않는 하자를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515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EBD9B4"/>
                </a:solidFill>
                <a:latin typeface="Pretendard"/>
              </a:rPr>
              <a:t>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5159" y="4741333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8486" y="1372972"/>
            <a:ext cx="4861422" cy="343243"/>
          </a:xfrm>
          <a:prstGeom prst="rect">
            <a:avLst/>
          </a:prstGeom>
          <a:noFill/>
        </p:spPr>
        <p:txBody>
          <a:bodyPr wrap="square" anchor="t" lIns="0" rIns="0" tIns="0" bIns="8237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CONTACT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8486" y="1720792"/>
            <a:ext cx="1012338" cy="464459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본사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8720" y="1720792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8720" y="1960490"/>
            <a:ext cx="3619522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서울 서초구 서초대로53길 15 정원빌딩 4층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8486" y="2397983"/>
            <a:ext cx="1012338" cy="670045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분사무소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8720" y="2397983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1899-4252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8720" y="2637681"/>
            <a:ext cx="299216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경기 화성시 동탄순환대로 127-5 우성센트럴타워 914호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8486" y="3265530"/>
            <a:ext cx="1206019" cy="318358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홈페이지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8720" y="3265530"/>
            <a:ext cx="3619522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www.jllawfirm.co.kr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8486" y="3724904"/>
            <a:ext cx="1012338" cy="670045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다음 절차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8720" y="3724904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검토 의견 회신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8720" y="3964602"/>
            <a:ext cx="299216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요청하시면 단지 자료를 검토해 남은 존속기간과 조사 범위를 정리해 드립니다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639" y="5812252"/>
            <a:ext cx="1926189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Pretendard"/>
              </a:rPr>
              <a:t>18건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39" y="6150918"/>
            <a:ext cx="19261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판결문으로 확인된 수행 실적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76326" y="5812252"/>
            <a:ext cx="1680885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Pretendard"/>
              </a:rPr>
              <a:t>9,979세대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76326" y="6150918"/>
            <a:ext cx="16808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누적 수행 세대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65369" y="5812252"/>
            <a:ext cx="1735071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Pretendard"/>
              </a:rPr>
              <a:t>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5369" y="6150918"/>
            <a:ext cx="17350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채권양도비율 평균 (15건)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4147" y="5903783"/>
            <a:ext cx="166221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15"/>
              </a:lnSpc>
            </a:pPr>
            <a:r>
              <a:rPr sz="137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4147" y="6169225"/>
            <a:ext cx="166221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09"/>
              </a:lnSpc>
            </a:pPr>
            <a:r>
              <a:rPr sz="860" b="0">
                <a:solidFill>
                  <a:srgbClr val="EBD9B4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