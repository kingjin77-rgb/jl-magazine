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S26b2_PartnerCareer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3697873"/>
            <a:ext cx="171822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3990774"/>
            <a:ext cx="9123863" cy="1059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0D2162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2880" b="1">
                <a:solidFill>
                  <a:srgbClr val="8F7033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5272216"/>
            <a:ext cx="1109435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건설 전문 변호사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903783"/>
            <a:ext cx="1135540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6224144"/>
            <a:ext cx="113554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2181" y="5903783"/>
            <a:ext cx="103595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2181" y="6224144"/>
            <a:ext cx="10359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3984" y="5903783"/>
            <a:ext cx="163310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3984" y="6224144"/>
            <a:ext cx="163310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누적 수행 세대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2311" y="5903783"/>
            <a:ext cx="140683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2311" y="6224144"/>
            <a:ext cx="140683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579" y="5995315"/>
            <a:ext cx="334584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수신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3579" y="6187531"/>
            <a:ext cx="3345843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78702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200171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297369"/>
            <a:ext cx="268553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915315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37729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977081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외주 없이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직접 수행한 사건입니다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0612" y="2527986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915315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537729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6882" y="1977081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법원이 인정한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하자보수비입니다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82" y="2527986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915315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53" y="1537729"/>
            <a:ext cx="305715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53" y="199538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세대 수로 나눈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실적 참고치입니다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53" y="2546292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07" y="4242200"/>
            <a:ext cx="286182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207" y="4489335"/>
            <a:ext cx="286182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약 2년 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207" y="4809695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2102" y="4242200"/>
            <a:ext cx="286182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102" y="4489335"/>
            <a:ext cx="2370616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2102" y="5029371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8997" y="4242200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8997" y="4471029"/>
            <a:ext cx="286182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평균 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8997" y="4791389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8648" y="5718146"/>
            <a:ext cx="4318457" cy="803498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2408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57405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02284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57405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202284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83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44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88729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54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71503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88729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54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71503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59189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624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85495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59189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624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29648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9509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5595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29648"/>
            <a:ext cx="68648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9509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729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0D2162"/>
                </a:solidFill>
                <a:latin typeface="210 옴니고딕 050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0D2162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0D2162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0D2162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0D2162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39737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58486"/>
            <a:ext cx="295152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9855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58486"/>
            <a:ext cx="29513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9855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58486"/>
            <a:ext cx="29630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9855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1137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5300041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31256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45330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37225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93513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39963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96252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942702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98990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345441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601729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748180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06522"/>
            <a:ext cx="12468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0101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203603"/>
            <a:ext cx="31157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59891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203603"/>
            <a:ext cx="31157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59891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4158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506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22162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22162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22162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22162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109765"/>
            <a:ext cx="598451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5664" y="4109765"/>
            <a:ext cx="67605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792" y="4338594"/>
            <a:ext cx="176179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483873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55279"/>
            <a:ext cx="352579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346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하자소송은 </a:t>
            </a:r>
            <a:r>
              <a:rPr sz="1300" b="1">
                <a:solidFill>
                  <a:srgbClr val="0D2162"/>
                </a:solidFill>
                <a:latin typeface="Pretendard"/>
              </a:rPr>
              <a:t>기술과 법률이 함께 걸린 사건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일, 즉 하자를 찾는 일은 법률 지식만으로 되지 않고, 하자를 법원에서 인정받아 손해배상금까지 받아내는 일은 기술만으로는 되지 않습니다.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법무법인 제이엘은 소송 전 하자진단부터 소 제기 이후 감정 신청 및 보완, 대응, 판결금 회수까지 </a:t>
            </a:r>
            <a:r>
              <a:rPr sz="1300" b="1">
                <a:solidFill>
                  <a:srgbClr val="0D2162"/>
                </a:solidFill>
                <a:latin typeface="Pretendard"/>
              </a:rPr>
              <a:t>외주 없이 직접 수행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담당 변호사가 처음부터 끝까지 맡아 판결에 이른 사건이 </a:t>
            </a:r>
            <a:r>
              <a:rPr sz="1300" b="1">
                <a:solidFill>
                  <a:srgbClr val="0D2162"/>
                </a:solidFill>
                <a:latin typeface="Pretendard"/>
              </a:rPr>
              <a:t>20건, [세대수 확인]세대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그 과정에서 확인한 것이 있습니다. 입주민들이 가장 힘들어하는 지점은 소송 자체가 아니라, 소송 전 </a:t>
            </a:r>
            <a:r>
              <a:rPr sz="1300" b="1">
                <a:solidFill>
                  <a:srgbClr val="0D2162"/>
                </a:solidFill>
                <a:latin typeface="Pretendard"/>
              </a:rPr>
              <a:t>‘무엇을 어떻게 어디서부터’ 준비하느냐</a:t>
            </a:r>
            <a:r>
              <a:rPr sz="1300" b="0">
                <a:solidFill>
                  <a:srgbClr val="111418"/>
                </a:solidFill>
                <a:latin typeface="Pretendard"/>
              </a:rPr>
              <a:t>의 문제였습니다. 그래서 감정료와 소송비용은 저희 법인이 </a:t>
            </a:r>
            <a:r>
              <a:rPr sz="1300" b="1">
                <a:solidFill>
                  <a:srgbClr val="0D2162"/>
                </a:solidFill>
                <a:latin typeface="Pretendard"/>
              </a:rPr>
              <a:t>선부담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채권양도 동의서 징구도 법인이 직접 맡습니다.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5317409"/>
            <a:ext cx="8700987" cy="65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6"/>
              </a:lnSpc>
            </a:pPr>
            <a:r>
              <a:rPr sz="1580" b="1">
                <a:solidFill>
                  <a:srgbClr val="0D2162"/>
                </a:solidFill>
                <a:latin typeface="Pretendard"/>
              </a:rPr>
              <a:t>결과를 약속드리지는 않겠습니다.</a:t>
            </a:r>
          </a:p>
          <a:p>
            <a:pPr algn="l">
              <a:lnSpc>
                <a:spcPts val="2376"/>
              </a:lnSpc>
            </a:pPr>
            <a:r>
              <a:rPr sz="1580" b="1">
                <a:solidFill>
                  <a:srgbClr val="0D2162"/>
                </a:solidFill>
                <a:latin typeface="Pretendard"/>
              </a:rPr>
              <a:t>다만 맡은 일은 끝까지 직접 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810" y="6224144"/>
            <a:ext cx="129352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7549" y="6169225"/>
            <a:ext cx="193534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0D2162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b2_PartnerCar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227658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MANAGING PARTNER · 약력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검사와 공인회계사 경력을 하자소송 판단에 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099" y="1903855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2188461"/>
            <a:ext cx="658367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 하자 사건을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집합건물법·공동주택관리법 두 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나누어 구성합니다.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5513" y="1903855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513" y="2188461"/>
            <a:ext cx="54237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단가 적용과 수량 산출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직접 검산합니다. 감정보완신청 사유의 절반이 이 두 가지입니다.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3195022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099" y="3479628"/>
            <a:ext cx="658367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사실관계를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증거로 세우는 순서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기준으로 조사 단계를 설계합니다.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513" y="3195022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513" y="3479628"/>
            <a:ext cx="658367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 의결·회계 처리 등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단지 내부 절차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관한 검토를 함께 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099" y="4271233"/>
            <a:ext cx="13882770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학력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099" y="4555838"/>
            <a:ext cx="13882770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성균관대학교 졸업 · 서울대학교 대학원 경영학과 수료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183956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0151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사무소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23531"/>
            <a:ext cx="682971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본사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15747"/>
            <a:ext cx="682971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서울 서초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90342"/>
            <a:ext cx="562552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 정원빌딩 4층</a:t>
            </a:r>
          </a:p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02-537-0123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서울중앙지방법원·서울고등법원 인접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7369" y="2123531"/>
            <a:ext cx="682971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분사무소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7369" y="2315747"/>
            <a:ext cx="682971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경기 화성 동탄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7369" y="2590342"/>
            <a:ext cx="562552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 우성센트럴타워 914호</a:t>
            </a:r>
          </a:p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1899-4252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수원지방법원 관할 단지 대응 · www.jllawfirm.co.kr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0151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구성 · 하자소송은 세대 단위 사무 처리량이 결과를 좌우합니다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885549" cy="44192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22846"/>
            <a:ext cx="2354190" cy="44192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인원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3801" y="2022846"/>
            <a:ext cx="10414823" cy="44192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26617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26617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7인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3801" y="2326617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사건 수행 · 서면 작성 · 변론 · 감정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651840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사무직원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51840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36명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801" y="2651840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채권양도 서류 징구·검수 · 세대 명단 관리 · 송달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2977063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977063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3801" y="2977063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현장조사 입회 · 도면 대조 · 감정 항목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1,000세대 단지면 채권양도 서류가 1,000건입니다. 서명 확인·인적사항 대조·미회수 관리가 전부 수작업입니다.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719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09838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44960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008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1520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09838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44960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78591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09838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44960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78591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28145"/>
            <a:ext cx="148500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44960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298388"/>
            <a:ext cx="190629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28431"/>
            <a:ext cx="148500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45246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0368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7906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67711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9819"/>
            <a:ext cx="677113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54414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87603"/>
            <a:ext cx="67711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398126"/>
            <a:ext cx="677113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72720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352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41153"/>
            <a:ext cx="137754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41153"/>
            <a:ext cx="10584706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07963"/>
            <a:ext cx="12990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407279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미시공·변경시공 항목을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880954"/>
            <a:ext cx="116739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780270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계측 방법과 기준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253945"/>
            <a:ext cx="10009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153261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감정보완신청 사유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1203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651228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22846"/>
            <a:ext cx="12875191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34054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34054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좋은도시관리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62995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62995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991936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2991936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건축 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67328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888373"/>
            <a:ext cx="4431773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873" y="4144662"/>
            <a:ext cx="3658465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본 제안의 협력 영역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4823" y="3888373"/>
            <a:ext cx="443177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823" y="4117202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9772" y="3888373"/>
            <a:ext cx="443195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9772" y="4144662"/>
            <a:ext cx="44319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6652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34555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69549"/>
            <a:ext cx="4345550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92396" y="686486"/>
            <a:ext cx="1026800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92396" y="997693"/>
            <a:ext cx="102680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1238" y="686486"/>
            <a:ext cx="1023871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61238" y="997693"/>
            <a:ext cx="10238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200" y="686486"/>
            <a:ext cx="131622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997693"/>
            <a:ext cx="131622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76569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76569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76569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1997961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1997961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1997961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1997961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1997961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3765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37659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37659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3765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37659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5905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59051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59051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5905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59051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68044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680443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680443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68044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680443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90183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90183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90183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90183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90183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2322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2322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2322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2322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2322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4461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44619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44619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4461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44619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58431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58431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58431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58431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58431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80570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805709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805709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80570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805709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45407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45407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45407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45407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45407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2851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28510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28510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2851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28510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5064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50649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50649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5064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50649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72788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727889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727889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72788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727889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494928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4949281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4949281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494928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4949281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170673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170673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170673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170673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170673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41037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410371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410371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41037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410371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63176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631763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631763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63176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631763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879756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879756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879756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879756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CBB27E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4342"/>
            <a:ext cx="11675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986644" y="6654342"/>
            <a:ext cx="10149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15978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55099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5597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7379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9161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5509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7379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9161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809427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9243"/>
            <a:ext cx="23541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9243"/>
            <a:ext cx="119144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56216"/>
            <a:ext cx="23541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56216"/>
            <a:ext cx="1210193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631495"/>
            <a:ext cx="23541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631495"/>
            <a:ext cx="1210193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5006774"/>
            <a:ext cx="23541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5006774"/>
            <a:ext cx="1210193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382054"/>
            <a:ext cx="23541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382054"/>
            <a:ext cx="1210193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1417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5300041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50375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386666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21657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77945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924396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80684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327135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83423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729873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06522"/>
            <a:ext cx="12468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61556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72036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72036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요청하나 이행되지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72036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72036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72036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82306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82306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82306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31927"/>
            <a:ext cx="6560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1004" y="6004468"/>
            <a:ext cx="1007212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9547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4359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212" y="1377549"/>
            <a:ext cx="525385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43675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43675"/>
            <a:ext cx="484359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사법(私法)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93212" y="1743675"/>
            <a:ext cx="525385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109801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109801"/>
            <a:ext cx="484359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212" y="2109801"/>
            <a:ext cx="525385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93081"/>
            <a:ext cx="210305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4036" y="3011387"/>
            <a:ext cx="108007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33117"/>
            <a:ext cx="86226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61945"/>
            <a:ext cx="1224874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30378"/>
            <a:ext cx="193515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22594"/>
            <a:ext cx="238384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21225"/>
            <a:ext cx="165726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22594"/>
            <a:ext cx="16170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30378"/>
            <a:ext cx="14373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22594"/>
            <a:ext cx="163914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62630"/>
            <a:ext cx="182894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54846"/>
            <a:ext cx="17940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981" y="3862630"/>
            <a:ext cx="159555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54846"/>
            <a:ext cx="14952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6054" y="3862630"/>
            <a:ext cx="177552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54846"/>
            <a:ext cx="148409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915243"/>
            <a:ext cx="305868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44072"/>
            <a:ext cx="4358182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46126"/>
            <a:ext cx="69814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79315"/>
            <a:ext cx="42671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80684"/>
            <a:ext cx="41807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46126"/>
            <a:ext cx="300589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2993081"/>
            <a:ext cx="210305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84036" y="3011387"/>
            <a:ext cx="108007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33117"/>
            <a:ext cx="86226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61945"/>
            <a:ext cx="1224874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30378"/>
            <a:ext cx="193515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22594"/>
            <a:ext cx="238384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21225"/>
            <a:ext cx="165726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22594"/>
            <a:ext cx="16170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30378"/>
            <a:ext cx="14373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22594"/>
            <a:ext cx="163914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62630"/>
            <a:ext cx="182894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54846"/>
            <a:ext cx="17940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3981" y="3862630"/>
            <a:ext cx="159555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54846"/>
            <a:ext cx="14952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6054" y="3862630"/>
            <a:ext cx="177552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54846"/>
            <a:ext cx="148409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915243"/>
            <a:ext cx="305868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44072"/>
            <a:ext cx="4358182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46126"/>
            <a:ext cx="69814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79315"/>
            <a:ext cx="42671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80684"/>
            <a:ext cx="41807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46126"/>
            <a:ext cx="300589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245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9819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26954"/>
            <a:ext cx="2612538" cy="928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아예 시공되지 않은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79819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26954"/>
            <a:ext cx="2612538" cy="928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다른 자재·규격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79819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26954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시방 기준에 못 미치는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79819"/>
            <a:ext cx="315673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54414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설계 자체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1203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607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기간이 갈린다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9607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39029"/>
            <a:ext cx="126221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산정 방식이 갈린다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39029"/>
            <a:ext cx="1062314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987646"/>
            <a:ext cx="126221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입증 방법이 갈린다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987646"/>
            <a:ext cx="1062314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245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34738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216563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90311"/>
            <a:ext cx="217524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08618"/>
            <a:ext cx="140848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0151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6219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87603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6219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87603"/>
            <a:ext cx="436166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62198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245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2119870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22846"/>
            <a:ext cx="12406549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12713"/>
            <a:ext cx="133398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34054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41655"/>
            <a:ext cx="137425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62995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중대한 기능·성능·안전상 시공기준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낮은 경우 표준시방서를 우선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70596"/>
            <a:ext cx="15406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91936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원칙적으로 하자 판단의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99538"/>
            <a:ext cx="96071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20878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적용 우선순위를 경우의 수로 나누어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28479"/>
            <a:ext cx="104126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49819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040" b="1">
                <a:solidFill>
                  <a:srgbClr val="0D2162"/>
                </a:solidFill>
                <a:latin typeface="Pretendard"/>
              </a:rPr>
              <a:t>한국토지주택공사 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897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574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5574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5464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5464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130932"/>
            <a:ext cx="7134333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설계도면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 · 단위세대 난방배관 평면도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5837" y="4130932"/>
            <a:ext cx="7134333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실제 시공</a:t>
            </a:r>
            <a:r>
              <a:rPr sz="969" b="0">
                <a:solidFill>
                  <a:srgbClr val="111418"/>
                </a:solidFill>
                <a:latin typeface="Pretendard"/>
              </a:rPr>
              <a:t> · 같은 공종의 현장 상태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97705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25072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25072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25072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25072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14378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14378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15063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14378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72720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72720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73405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72720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31063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31063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31747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31063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940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940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90090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940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4774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4774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4843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4774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82738"/>
            <a:ext cx="421319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82738"/>
            <a:ext cx="421319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82738"/>
            <a:ext cx="421319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936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9297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25801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91927"/>
            <a:ext cx="3184381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105189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71315"/>
            <a:ext cx="3184381" cy="5140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90522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093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74479"/>
            <a:ext cx="184124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234191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234191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74479"/>
            <a:ext cx="186504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5822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58227"/>
            <a:ext cx="206568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41975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41975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74479"/>
            <a:ext cx="259711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234191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234191"/>
            <a:ext cx="269999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8983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409513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8983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40951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8983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409513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1405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46414" cy="337957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2819171" cy="337957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050306" cy="337957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5202652" cy="337957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10516"/>
            <a:ext cx="112711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33716"/>
            <a:ext cx="2819171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33716"/>
            <a:ext cx="2050306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33716"/>
            <a:ext cx="5202652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금전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58020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58020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58020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58020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883243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883243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883243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883243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208466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208466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208466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208466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6729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41837"/>
            <a:ext cx="442390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16432"/>
            <a:ext cx="365200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41837"/>
            <a:ext cx="4424085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416432"/>
            <a:ext cx="365215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차액은 손해배상으로 청구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41837"/>
            <a:ext cx="442390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416432"/>
            <a:ext cx="365200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3879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885549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22846"/>
            <a:ext cx="3525794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22846"/>
            <a:ext cx="9243220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12713"/>
            <a:ext cx="10009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34054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34054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41655"/>
            <a:ext cx="10009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62995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62995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70596"/>
            <a:ext cx="83440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991936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2991936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세대별 채권양도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9538"/>
            <a:ext cx="83440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20878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20878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28479"/>
            <a:ext cx="10009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649819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649819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6388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574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5574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5464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5464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79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50990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43207"/>
            <a:ext cx="318017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17801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50990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4320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590342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040" b="1">
                <a:solidFill>
                  <a:srgbClr val="0D2162"/>
                </a:solidFill>
                <a:latin typeface="Pretendard"/>
              </a:rPr>
              <a:t>7,573건이 하자로 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50990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61513"/>
            <a:ext cx="318017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636108"/>
            <a:ext cx="2631760" cy="928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60일 이내 보수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50990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61513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608648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9948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574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5574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5464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5464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5355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5355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1417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1517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1422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80386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37225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93513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39963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96252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942702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98990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345441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601729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748180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06522"/>
            <a:ext cx="12468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0101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44310" y="640720"/>
            <a:ext cx="1069088" cy="38443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41416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42522"/>
            <a:ext cx="19792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42522"/>
            <a:ext cx="263482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81873"/>
            <a:ext cx="19792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81873"/>
            <a:ext cx="182184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121225"/>
            <a:ext cx="19792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121225"/>
            <a:ext cx="155933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21553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4252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42522"/>
            <a:ext cx="20347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6356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63567"/>
            <a:ext cx="12080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8461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84612"/>
            <a:ext cx="86314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56900"/>
            <a:ext cx="45412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94882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56900"/>
            <a:ext cx="45412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94882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56900"/>
            <a:ext cx="45412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94882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37657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27667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73024" y="6092424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86061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8740" y="640720"/>
            <a:ext cx="1229817" cy="38443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47063"/>
            <a:ext cx="43459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621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76576"/>
            <a:ext cx="43459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5729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06090"/>
            <a:ext cx="43459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5243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35603"/>
            <a:ext cx="43459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475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49497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5814254"/>
            <a:ext cx="10273556" cy="3992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01438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3171" y="640720"/>
            <a:ext cx="1390547" cy="38443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22846"/>
            <a:ext cx="47266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9018" y="2022846"/>
            <a:ext cx="6123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517117"/>
            <a:ext cx="47266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9018" y="2517117"/>
            <a:ext cx="6123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3011387"/>
            <a:ext cx="104217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995" y="3011387"/>
            <a:ext cx="63797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505657"/>
            <a:ext cx="85893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8897" y="3505657"/>
            <a:ext cx="58690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018234"/>
            <a:ext cx="85893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9018" y="4018234"/>
            <a:ext cx="6123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22846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22846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22846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22846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22846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73058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73058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73058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73058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73058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603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9819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54414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일시적 현상이 아니라는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87603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79819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54414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결로처럼 사용검사 후에 나타나는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87603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79819"/>
            <a:ext cx="436166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54414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무엇이 이행되지 않았는지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371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34738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34738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690311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34738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690311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34738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690311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감정신청서 항목으로 옮겨 근거로 붙임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61190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3171" y="640720"/>
            <a:ext cx="1390547" cy="38443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34738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34738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34738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34738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0612"/>
            <a:ext cx="188554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0612"/>
            <a:ext cx="165122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0612"/>
            <a:ext cx="110474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66738"/>
            <a:ext cx="188554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66738"/>
            <a:ext cx="165122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66738"/>
            <a:ext cx="110474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32864"/>
            <a:ext cx="188554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32864"/>
            <a:ext cx="165122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32864"/>
            <a:ext cx="110474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98990"/>
            <a:ext cx="188554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98990"/>
            <a:ext cx="165122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98990"/>
            <a:ext cx="110474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913595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3171" y="640720"/>
            <a:ext cx="1390547" cy="38443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15063"/>
            <a:ext cx="5394868" cy="3430235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482738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15063"/>
            <a:ext cx="5394868" cy="3430235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482738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897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6219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있어야 한다는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87603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62198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87603"/>
            <a:ext cx="436166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62198"/>
            <a:ext cx="4361660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공사시방서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8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41153"/>
            <a:ext cx="4645225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41153"/>
            <a:ext cx="7317030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407279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407279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780270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780270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53261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53261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단지 보유 자료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1417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1517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6156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67690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37225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93513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39963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96252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942702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06522"/>
            <a:ext cx="12468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936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606342"/>
            <a:ext cx="3594493" cy="68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606342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606342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42702"/>
            <a:ext cx="337641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80684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42702"/>
            <a:ext cx="337641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80684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42702"/>
            <a:ext cx="337641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80684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42702"/>
            <a:ext cx="337641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80684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166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0D2162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1853333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21009"/>
            <a:ext cx="432761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21009"/>
            <a:ext cx="441621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21009"/>
            <a:ext cx="737378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21009"/>
            <a:ext cx="125288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277" y="2421009"/>
            <a:ext cx="57335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805441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805441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805441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805441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1275" y="2805441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3208180"/>
            <a:ext cx="432761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3208180"/>
            <a:ext cx="441621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3208180"/>
            <a:ext cx="737378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3208180"/>
            <a:ext cx="125288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277" y="3208180"/>
            <a:ext cx="57335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59261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59261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59261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59261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59261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867207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867207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867207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867207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867207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4141801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4141801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4141801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4141801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4141801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2100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2100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2100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2100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2100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9560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9560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9560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9560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9560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7019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7019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7019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7019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7019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24479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24479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24479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24479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24479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519387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519387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519387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519387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94536" y="3519387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922126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922126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922126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922126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922126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76576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9625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59344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76576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9625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59344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76576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22306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03550" y="6622306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4781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하심위 하자심사 신청 유형별 비율 ('21~'26.2 평균)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2050306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22846"/>
            <a:ext cx="1185333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22846"/>
            <a:ext cx="8854760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31020"/>
            <a:ext cx="83440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기능 불량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9657" y="2431020"/>
            <a:ext cx="6667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52360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59961"/>
            <a:ext cx="104126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들뜸 및 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759961"/>
            <a:ext cx="6396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15.1%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681301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88903"/>
            <a:ext cx="46113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9657" y="3088903"/>
            <a:ext cx="6123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3010243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17844"/>
            <a:ext cx="46113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결로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9657" y="3417844"/>
            <a:ext cx="57847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9.9%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3339184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46786"/>
            <a:ext cx="46113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누수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9657" y="3746786"/>
            <a:ext cx="57847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7.6%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9207" y="3668126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7440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2050306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22846"/>
            <a:ext cx="1185333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22846"/>
            <a:ext cx="8854760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52360"/>
            <a:ext cx="2050306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52360"/>
            <a:ext cx="1185333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52360"/>
            <a:ext cx="885476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959042"/>
            <a:ext cx="150038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959042"/>
            <a:ext cx="57847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880382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209324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3209324"/>
            <a:ext cx="118533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3209324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9948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50990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43207"/>
            <a:ext cx="6794568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17801"/>
            <a:ext cx="5596695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정전 시 홈네트워크가 정지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별개 항목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50990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4320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590342"/>
            <a:ext cx="5596695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세대단자함 또는 세대단말기(월패드)에 포함해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월패드 내장형도 적법한 시공 형태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869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185333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22846"/>
            <a:ext cx="4260792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22846"/>
            <a:ext cx="6644273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31020"/>
            <a:ext cx="6612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52360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사업승인일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52360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59961"/>
            <a:ext cx="6612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681301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별도 장비로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681301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88903"/>
            <a:ext cx="6612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3010243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실제로 구현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3010243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88468"/>
            <a:ext cx="3684144" cy="91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7211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702486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260828"/>
            <a:ext cx="627283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562882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562882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75121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75121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0D2162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153833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153833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596617"/>
            <a:ext cx="627283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898671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898671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110909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110909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323148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323148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61018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848864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5775639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794018"/>
            <a:ext cx="5363747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210880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2108800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352503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352503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96206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96206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99393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8800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108800"/>
            <a:ext cx="11046025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0D2162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24983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524983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0D2162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74948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3189730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88468"/>
            <a:ext cx="3674533" cy="91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4979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913009"/>
            <a:ext cx="81133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0465" y="1913009"/>
            <a:ext cx="11820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187603"/>
            <a:ext cx="4497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64" y="2187603"/>
            <a:ext cx="27106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462198"/>
            <a:ext cx="117270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1183" y="2462198"/>
            <a:ext cx="101471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736792"/>
            <a:ext cx="4497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7074" y="2736792"/>
            <a:ext cx="292717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3011387"/>
            <a:ext cx="725215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3123" y="3011387"/>
            <a:ext cx="4244874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661261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897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9819"/>
            <a:ext cx="315673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54414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79819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26954"/>
            <a:ext cx="2612538" cy="928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불충분한 다짐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거푸집 조기 제거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79819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26954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79819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26954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2792" y="4714445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슬래브에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채 균열이 동반된 상태입니다. 균열 원인을 재료·시공·구조 중 어디로 볼지 가르는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2792" y="4714445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4578" y="5009635"/>
            <a:ext cx="120327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폐자재가 매립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642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9819"/>
            <a:ext cx="315673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54414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79819"/>
            <a:ext cx="315673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54414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79819"/>
            <a:ext cx="315673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54414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87603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79819"/>
            <a:ext cx="315673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54414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88468"/>
            <a:ext cx="3674533" cy="91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352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34738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87603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34738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040" b="1">
                <a:solidFill>
                  <a:srgbClr val="0D2162"/>
                </a:solidFill>
                <a:latin typeface="Pretendard"/>
              </a:rPr>
              <a:t>12㎜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87603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34738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사용검사 전의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87603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34738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148398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54198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54198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88494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88494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22789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22789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0767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9819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54414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87603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79819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54414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87603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79819"/>
            <a:ext cx="436166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54414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288" y="4524804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단열재가 놓일 자리에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상태입니다. 사용승인도면의 형별성능관계내역에 적힌 두께·등급과 대조해 미시공·변경시공에 해당하는지를 판단합니다.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288" y="4524804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1906" y="4819993"/>
            <a:ext cx="137553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우레탄폼이 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371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607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9607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39029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39029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8198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8198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2494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2494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245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41153"/>
            <a:ext cx="1761981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41153"/>
            <a:ext cx="339581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41153"/>
            <a:ext cx="6932598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720" y="2458479"/>
            <a:ext cx="9319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40727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40727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" y="2733646"/>
            <a:ext cx="8204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68244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68244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" y="3008813"/>
            <a:ext cx="115988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5761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5761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720" y="3283979"/>
            <a:ext cx="11943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3277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3277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720" y="3559146"/>
            <a:ext cx="4497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50794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50794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720" y="3834313"/>
            <a:ext cx="114194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78311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78311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6569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41153"/>
            <a:ext cx="1761981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예외적으로 표면처리 공법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47835"/>
            <a:ext cx="15406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69175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2014년 단가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69175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노무 공량·노무비 단가는 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75858"/>
            <a:ext cx="116739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97198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097198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인장 부착강도 0.39N/㎟ 미만이면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703880"/>
            <a:ext cx="116739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625220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625220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8810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45989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19813"/>
            <a:ext cx="116739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통일 기준을 제시하지 않음.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할 수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47835"/>
            <a:ext cx="116739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69175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69175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수성싸인펜을 이용한 방식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75858"/>
            <a:ext cx="10009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97198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097198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1417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1517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2881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67690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37225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93513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39963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96252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942702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98990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345441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601729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748180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06522"/>
            <a:ext cx="12468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6571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15747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51711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55835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57204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95923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78986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817704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5019074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22774"/>
            <a:ext cx="150660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13345" y="6004468"/>
            <a:ext cx="175868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603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34738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65560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623218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897813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5338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623218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89781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623218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89781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623218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897813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5338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623218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89781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623218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89781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97738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82558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64252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44324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55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44324"/>
            <a:ext cx="454124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82990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44324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55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75891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36288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897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34738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0144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34738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217524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9948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6072"/>
            <a:ext cx="126221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96072"/>
            <a:ext cx="10623149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644689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644689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98764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98764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33060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33060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506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79135"/>
            <a:ext cx="2828781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79135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79135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79135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96504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892914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40049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97705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0144"/>
            <a:ext cx="32036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88972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60144"/>
            <a:ext cx="32036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88972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60144"/>
            <a:ext cx="32036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88972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60144"/>
            <a:ext cx="32036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88972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0101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38846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36792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38846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36792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38846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16180"/>
            <a:ext cx="2846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917549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16180"/>
            <a:ext cx="2846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917549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16180"/>
            <a:ext cx="2846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917549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16180"/>
            <a:ext cx="2846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917549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16180"/>
            <a:ext cx="2846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917549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41333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915243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34918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31495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41333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CBB27E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2439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44072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31495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41333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2439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4407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31495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41333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915243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34918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245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761981" cy="337957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22846"/>
            <a:ext cx="10200273" cy="337957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21724"/>
            <a:ext cx="83440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44923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46947"/>
            <a:ext cx="79412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70146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72170"/>
            <a:ext cx="46113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95369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97393"/>
            <a:ext cx="46113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20592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22615"/>
            <a:ext cx="46113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45815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047838"/>
            <a:ext cx="83440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971038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371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388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5388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988468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0018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935" y="2013693"/>
            <a:ext cx="4497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9177" y="2013693"/>
            <a:ext cx="61051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8646" y="2013693"/>
            <a:ext cx="4497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0412" y="2013693"/>
            <a:ext cx="4497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6567" y="2013693"/>
            <a:ext cx="260142" cy="632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74090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11207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74090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11207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74090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11207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74090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11207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1405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87603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79819"/>
            <a:ext cx="436147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54414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87603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79819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26954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채권압류·추심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87603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79819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26954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실익을 검토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9948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607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9607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39029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39029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8198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8198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1417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86775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98019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67690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37225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93513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39963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9625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924396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06522"/>
            <a:ext cx="12468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0101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422875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38846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82558"/>
            <a:ext cx="422875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38846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800864"/>
            <a:ext cx="422875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12504"/>
            <a:ext cx="9219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12504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12504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87783"/>
            <a:ext cx="9219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87783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87783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63063"/>
            <a:ext cx="9219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63063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63063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638342"/>
            <a:ext cx="9219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638342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638342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6013621"/>
            <a:ext cx="9219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6013621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6013621"/>
            <a:ext cx="258851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506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105225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407279"/>
            <a:ext cx="472083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46630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371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2002709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22846"/>
            <a:ext cx="2471351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22846"/>
            <a:ext cx="10180503" cy="453081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12713"/>
            <a:ext cx="8748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34054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34054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41655"/>
            <a:ext cx="104126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62995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62995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70596"/>
            <a:ext cx="104126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2991936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2991936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9538"/>
            <a:ext cx="104126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20878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20878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28479"/>
            <a:ext cx="83440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649819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649819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371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574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5574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5464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5464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4975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942811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68612"/>
            <a:ext cx="942811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9878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98780"/>
            <a:ext cx="952110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827609"/>
            <a:ext cx="952110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57777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57777"/>
            <a:ext cx="120891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86605"/>
            <a:ext cx="1208911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11677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116773"/>
            <a:ext cx="1098579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345602"/>
            <a:ext cx="10985797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37657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57333"/>
            <a:ext cx="2792741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37657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5733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37657"/>
            <a:ext cx="33764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37657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5733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1417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276572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6669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751803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37225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93513"/>
            <a:ext cx="6279063" cy="43495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39963"/>
            <a:ext cx="4327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6306522"/>
            <a:ext cx="12468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8603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153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576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86918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86918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91724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91724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96529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96529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371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0144"/>
            <a:ext cx="316003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59459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보수 이력과 지출 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33135"/>
            <a:ext cx="303390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32450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06126"/>
            <a:ext cx="295317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05441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279117"/>
            <a:ext cx="174752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178432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착수 전에 금액을 단정해 말씀드릴 수 없습니다.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85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6576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0144"/>
            <a:ext cx="133398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59459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33135"/>
            <a:ext cx="2930146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32450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이미 체결한 위임계약이 있으면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05207"/>
            <a:ext cx="316003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04522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양도 이전에 매도한 세대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478198"/>
            <a:ext cx="2827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377513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하자 상태를 감정으로 증명하기 어려워집니다.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88468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0022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67927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46097"/>
            <a:ext cx="3455498" cy="356972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67927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46097"/>
            <a:ext cx="3455498" cy="356972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67927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46097"/>
            <a:ext cx="3455498" cy="356972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67927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46097"/>
            <a:ext cx="3455498" cy="356972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24648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24648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24648"/>
            <a:ext cx="31801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3517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24648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418112"/>
            <a:ext cx="31801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62863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418112"/>
            <a:ext cx="31801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62863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418112"/>
            <a:ext cx="318017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62863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418112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610328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784792"/>
            <a:ext cx="56355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13621"/>
            <a:ext cx="563559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61170" y="5784792"/>
            <a:ext cx="52619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61170" y="6013621"/>
            <a:ext cx="5261964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729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388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5388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4907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4907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4426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4426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555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63911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5388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5388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4907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4907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695603"/>
            <a:ext cx="14421708" cy="34324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4699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4699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42188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342188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88468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88468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26882"/>
            <a:ext cx="12924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3550" y="6626882"/>
            <a:ext cx="112126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70999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942809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407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CBB27E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265530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265530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724904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724904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964602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12252"/>
            <a:ext cx="1957676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50918"/>
            <a:ext cx="19576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0925" y="5812252"/>
            <a:ext cx="178285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0925" y="6150918"/>
            <a:ext cx="178285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9629" y="5812252"/>
            <a:ext cx="176015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9629" y="6150918"/>
            <a:ext cx="176015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5956" y="5885477"/>
            <a:ext cx="169040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05956" y="6160072"/>
            <a:ext cx="169040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CBB27E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