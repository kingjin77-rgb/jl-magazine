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S26a2_WhyDirect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S26b2_PartnerCareer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S26c2_TeamCapacity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S27b2_StaffRole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S09b2_TypeImportance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S09c2_RevisionBackground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S09d2_DrawingFirst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S12b2_RouteRelations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S12c2_AssignmentStart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S12d2_VsLitigation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S06b2_DataOrganize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S08b2_DisclosureScope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S13c2_DesignMismatch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S14b_GatewaySteps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S16b_StandardChange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S17b2_CrackRemedy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S17d2_CondensationCheck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S17g_RevisedItems2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S19b2_PracticeIssues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S20b_SupplementReasons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S21b2_AdhocReport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S22b2_PostRepair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S24b2_CostBurden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S30c_FAQ3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S31b2_ListSchedule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3697873"/>
            <a:ext cx="16038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3990774"/>
            <a:ext cx="9123863" cy="1059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0D2162"/>
                </a:solidFill>
                <a:latin typeface="210 옴니고딕 050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2880" b="1">
                <a:solidFill>
                  <a:srgbClr val="8F7033"/>
                </a:solidFill>
                <a:latin typeface="210 옴니고딕 050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5272216"/>
            <a:ext cx="110943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건설 전문 변호사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80" b="0">
                <a:solidFill>
                  <a:srgbClr val="C7CBD3"/>
                </a:solidFill>
                <a:latin typeface="Pretendard"/>
              </a:rPr>
              <a:t>|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903783"/>
            <a:ext cx="1025702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6224144"/>
            <a:ext cx="10257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6370" y="5903783"/>
            <a:ext cx="103595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26370" y="6224144"/>
            <a:ext cx="10359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8173" y="5903783"/>
            <a:ext cx="163310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9,979세대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8173" y="6224144"/>
            <a:ext cx="16331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누적 수행 세대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501" y="5903783"/>
            <a:ext cx="133141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0D2162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501" y="6224144"/>
            <a:ext cx="13314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2451" y="5995315"/>
            <a:ext cx="29769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수신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451" y="6187531"/>
            <a:ext cx="29769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0396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81864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15675"/>
            <a:ext cx="239263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JL 단독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외주 없이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직접 수행한 사건입니다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0612" y="2518833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688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법원이 인정한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하자보수비입니다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82" y="2518833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897009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0D2162"/>
                </a:solidFill>
                <a:latin typeface="Pretendard"/>
              </a:rPr>
              <a:t>329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53" y="1519423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53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세대 수로 나눈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실적 참고치입니다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53" y="2518833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5207" y="4702289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207" y="4931118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약 2년 6개월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207" y="5233172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2102" y="4702289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102" y="4931118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2102" y="5233172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8997" y="4702289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8997" y="4931118"/>
            <a:ext cx="286182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0D2162"/>
                </a:solidFill>
                <a:latin typeface="Pretendard"/>
              </a:rPr>
              <a:t>평균 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8997" y="5233172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8648" y="5920373"/>
            <a:ext cx="4318457" cy="585092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0454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91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8"/>
              </a:lnSpc>
            </a:pPr>
            <a:r>
              <a:rPr sz="2590" b="1">
                <a:solidFill>
                  <a:srgbClr val="FFFFFF"/>
                </a:solidFill>
                <a:latin typeface="210 옴니고딕 050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39099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86234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47099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0796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0423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1755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78423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4888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4088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88018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1934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1134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5847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52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8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1"/>
              </a:lnSpc>
            </a:pPr>
            <a:r>
              <a:rPr sz="2520" b="1">
                <a:solidFill>
                  <a:srgbClr val="0D2162"/>
                </a:solidFill>
                <a:latin typeface="210 옴니고딕 050"/>
              </a:rPr>
              <a:t>시급성 · 전문성 · 일원화 ·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0D2162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0D2162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0D2162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0D2162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0D2162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4482482" cy="311278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18985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0D2162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67639"/>
            <a:ext cx="295152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0702"/>
            <a:ext cx="2951525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67639"/>
            <a:ext cx="295134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0702"/>
            <a:ext cx="2951342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67639"/>
            <a:ext cx="29630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0702"/>
            <a:ext cx="2963058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64423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실적은 판결문으로 확인된 JL 단독 수행 18건(9,979세대) 기준입니다. 세대당 평균은 32,836,812,673원 ÷ 9,979세대 = 3,290,592원으로 산정한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463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2461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8021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44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단독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210 옴니고딕 050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2196756"/>
            <a:ext cx="26494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a2_Why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991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직접 수행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외주 없이 조사부터 회수까지 법인이 직접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8180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657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건설 전문 인력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657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3135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비용 선지급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3135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612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612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792" y="4329441"/>
            <a:ext cx="543532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5295" y="4329441"/>
            <a:ext cx="612217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2400" y="4329441"/>
            <a:ext cx="169589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4955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162378"/>
            <a:ext cx="3525794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0D2162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473585"/>
            <a:ext cx="35257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702486"/>
            <a:ext cx="8700987" cy="27753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공동주택 하자소송은 </a:t>
            </a:r>
            <a:r>
              <a:rPr sz="1300" b="1">
                <a:solidFill>
                  <a:srgbClr val="0D2162"/>
                </a:solidFill>
                <a:latin typeface="Pretendard"/>
              </a:rPr>
              <a:t>기술과 법률이 함께 걸린 사건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일은 법률 지식만으로 되지 않고, 찾아낸 것을 법정에서 받아내는 일은 기술만으로 되지 않습니다.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법무법인 제이엘은 하자조사부터 감정 대응, 소송, 회수까지 </a:t>
            </a:r>
            <a:r>
              <a:rPr sz="1300" b="1">
                <a:solidFill>
                  <a:srgbClr val="0D2162"/>
                </a:solidFill>
                <a:latin typeface="Pretendard"/>
              </a:rPr>
              <a:t>외주 없이 직접 수행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해 왔습니다. 단독으로 수행해 판결에 이른 사건이 </a:t>
            </a:r>
            <a:r>
              <a:rPr sz="1300" b="1">
                <a:solidFill>
                  <a:srgbClr val="0D2162"/>
                </a:solidFill>
                <a:latin typeface="Pretendard"/>
              </a:rPr>
              <a:t>18건, 9,979세대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 그 과정에서 확인한 것은, 입주자대표회의가 가장 힘들어하는 지점이 소송 자체가 아니라 </a:t>
            </a:r>
            <a:r>
              <a:rPr sz="1300" b="1">
                <a:solidFill>
                  <a:srgbClr val="0D2162"/>
                </a:solidFill>
                <a:latin typeface="Pretendard"/>
              </a:rPr>
              <a:t>착수 전 준비</a:t>
            </a:r>
            <a:r>
              <a:rPr sz="1300" b="0">
                <a:solidFill>
                  <a:srgbClr val="111418"/>
                </a:solidFill>
                <a:latin typeface="Pretendard"/>
              </a:rPr>
              <a:t>라는 사실이었습니다.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그래서 감정료와 소송비용을 법인이 부담하고, 채권양도 동의서 징구도 법인이 직접 맡습니다.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4674972"/>
            <a:ext cx="8700987" cy="65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6"/>
              </a:lnSpc>
            </a:pPr>
            <a:r>
              <a:rPr sz="1580" b="1">
                <a:solidFill>
                  <a:srgbClr val="0D2162"/>
                </a:solidFill>
                <a:latin typeface="Pretendard"/>
              </a:rPr>
              <a:t>결과를 약속드리지는 않겠습니다.</a:t>
            </a:r>
          </a:p>
          <a:p>
            <a:pPr algn="l">
              <a:lnSpc>
                <a:spcPts val="2376"/>
              </a:lnSpc>
            </a:pPr>
            <a:r>
              <a:rPr sz="1580" b="1">
                <a:solidFill>
                  <a:srgbClr val="0D2162"/>
                </a:solidFill>
                <a:latin typeface="Pretendard"/>
              </a:rPr>
              <a:t>다만 맡은 일은 끝까지 직접 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810" y="6242450"/>
            <a:ext cx="11606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7549" y="6169225"/>
            <a:ext cx="193534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0D2162"/>
                </a:solidFill>
                <a:latin typeface="210 옴니고딕 050"/>
              </a:rPr>
              <a:t>대표변호사 박종일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6b2_PartnerCar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4171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MANAGING PARTNER · 약력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검사와 공인회계사 경력을 하자소송 판단에 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099" y="1903855"/>
            <a:ext cx="6583679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2188461"/>
            <a:ext cx="658367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 하자 사건을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집합건물법·공동주택관리법 두 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나누어 구성합니다.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5513" y="1903855"/>
            <a:ext cx="6583679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5513" y="2188461"/>
            <a:ext cx="54237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단가 적용과 수량 산출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직접 검산합니다. 감정보완신청 사유의 절반이 이 두 가지입니다.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3195022"/>
            <a:ext cx="6583679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099" y="3479628"/>
            <a:ext cx="658367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사실관계를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증거로 세우는 순서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기준으로 조사 단계를 설계합니다.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513" y="3195022"/>
            <a:ext cx="6583679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513" y="3479628"/>
            <a:ext cx="658367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 의결·회계 처리 등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단지 내부 절차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관한 검토를 함께 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099" y="4271233"/>
            <a:ext cx="13882770" cy="3170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학력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099" y="4555838"/>
            <a:ext cx="13882770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성균관대학교 졸업 · 서울대학교 대학원 경영학과 수료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183956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248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사무소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23531"/>
            <a:ext cx="682971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본사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15747"/>
            <a:ext cx="682971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서울 서초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572036"/>
            <a:ext cx="562552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 서초구 서초대로53길 15 정원빌딩 4층</a:t>
            </a:r>
          </a:p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02-537-0123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서울중앙지방법원·서울고등법원 인접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7369" y="2123531"/>
            <a:ext cx="682971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분사무소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7369" y="2315747"/>
            <a:ext cx="682971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경기 화성 동탄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7369" y="2572036"/>
            <a:ext cx="5625527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경기 화성시 동탄순환대로 127-5 우성센트럴타워 914호</a:t>
            </a:r>
          </a:p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1899-4252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수원지방법원 관할 단지 대응 · www.jllawfirm.co.kr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6c2_Team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248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본사와 동탄 분사무소 두 곳에서 수도권·충청 단지를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구성 · 하자소송은 세대 단위 사무 처리량이 결과를 좌우합니다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885549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04540"/>
            <a:ext cx="2354190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인원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3801" y="2004540"/>
            <a:ext cx="10414823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17463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17463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7인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3801" y="2317463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사건 수행 · 서면 작성 · 변론 · 감정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2642686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사무직원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42686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36명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801" y="2642686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채권양도 서류 징구·검수 · 세대 명단 관리 · 송달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2967909"/>
            <a:ext cx="1885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967909"/>
            <a:ext cx="2354190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건축시공기술사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3801" y="2967909"/>
            <a:ext cx="10414823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현장조사 입회 · 도면 대조 · 감정 항목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1,000세대 단지면 채권양도 서류가 1,000건입니다. 서명 확인·인적사항 대조·미회수 관리가 전부 수작업입니다.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66821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대표변호사와 함께 5인의 변호사가 이 사건을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87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73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세무사 · 건설 변호사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873" y="5289235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신한·하나은행 법률자문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873" y="5524356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884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884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84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884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8843" y="5487744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7813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7813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7813" y="4818992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7813" y="5054113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7813" y="5487744"/>
            <a:ext cx="2077186" cy="428779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6782" y="4224037"/>
            <a:ext cx="250411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6782" y="4425406"/>
            <a:ext cx="2504119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하혜용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7467" y="4837298"/>
            <a:ext cx="13394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6782" y="5054113"/>
            <a:ext cx="2504119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7467" y="5307541"/>
            <a:ext cx="219071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5752" y="4224323"/>
            <a:ext cx="25043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변호사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5752" y="4425692"/>
            <a:ext cx="2504302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6436" y="4837584"/>
            <a:ext cx="134057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5752" y="5054399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5752" y="5289521"/>
            <a:ext cx="2504302" cy="297763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671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67711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677113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6771136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건축시공기술사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2169297"/>
            <a:ext cx="67711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361513"/>
            <a:ext cx="677113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617801"/>
            <a:ext cx="6771136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27b2_Staff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500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전문 사무장의 역할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사무장은 변호사가 놓치기 쉬운 도면 대조·현장 입회를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무엇을 하는가 · 변호사가 못 하는 일입니다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377549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22846"/>
            <a:ext cx="10584706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80504"/>
            <a:ext cx="117636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79819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미시공·변경시공 항목을 특정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853495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752810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계측 방법과 기준 적용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226486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감정서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125801"/>
            <a:ext cx="10584706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감정보완신청 사유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03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377549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04540"/>
            <a:ext cx="105847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24900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24900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좋은도시관리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653842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653842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2982783"/>
            <a:ext cx="137754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2982783"/>
            <a:ext cx="105847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건축 특급기술자 2인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보유 ·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45817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180" y="3888373"/>
            <a:ext cx="438490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180" y="4144662"/>
            <a:ext cx="438490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본 제안의 협력 영역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3129" y="3888373"/>
            <a:ext cx="438490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3129" y="4144662"/>
            <a:ext cx="438490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8078" y="3888373"/>
            <a:ext cx="438509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8078" y="4144662"/>
            <a:ext cx="4385092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38311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9027"/>
            <a:ext cx="38714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69549"/>
            <a:ext cx="387141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단독으로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099" y="686486"/>
            <a:ext cx="9125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099" y="1006846"/>
            <a:ext cx="9125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092" y="686486"/>
            <a:ext cx="935269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46092" y="1006846"/>
            <a:ext cx="93526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86401" y="686486"/>
            <a:ext cx="1193021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86401" y="1006846"/>
            <a:ext cx="11930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0">
                <a:solidFill>
                  <a:srgbClr val="CBB27E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528576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528576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528576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528576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785722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785722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785722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785722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201626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201626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201626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201626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24681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24681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24681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24681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47735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47735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47735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47735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70790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70790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70790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70790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93844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93844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93844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93844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16899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16899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16899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16899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39953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39953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39953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39953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63008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63008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63008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63008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86062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86062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86062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86062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9117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9117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9117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9117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32171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32171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32171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32171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55226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55226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55226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55226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78280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78280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78280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78280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501335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501335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501335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501335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24389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24389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24389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24389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474443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474443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474443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474443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704988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704988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704988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704988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0D2162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962135"/>
            <a:ext cx="846996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962135"/>
            <a:ext cx="90140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962135"/>
            <a:ext cx="1885549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962135"/>
            <a:ext cx="151063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49"/>
              </a:lnSpc>
            </a:pPr>
            <a:r>
              <a:rPr sz="819" b="1">
                <a:solidFill>
                  <a:srgbClr val="CBB27E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279063"/>
            <a:ext cx="1442170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9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8918"/>
            <a:ext cx="10489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025115" y="6658918"/>
            <a:ext cx="9656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4591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36792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3767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79112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28756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28756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585729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585729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42702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42702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299675"/>
            <a:ext cx="235419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299675"/>
            <a:ext cx="1210193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1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4692455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3494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01376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0D2162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요청하나 이행되지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41081"/>
            <a:ext cx="60117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8099" y="6004468"/>
            <a:ext cx="9007068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1543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377549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377549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5546" y="1377549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1725369"/>
            <a:ext cx="2002552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1725369"/>
            <a:ext cx="4888048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사법(私法)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5546" y="1725369"/>
            <a:ext cx="5209409" cy="395416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091495"/>
            <a:ext cx="2002552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091495"/>
            <a:ext cx="4888048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5546" y="2091495"/>
            <a:ext cx="5209409" cy="375645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2983927"/>
            <a:ext cx="18884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0419" y="3002234"/>
            <a:ext cx="102368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43639"/>
            <a:ext cx="10959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21225"/>
            <a:ext cx="174440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04288"/>
            <a:ext cx="21438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12072"/>
            <a:ext cx="151136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CBB27E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04288"/>
            <a:ext cx="1442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21225"/>
            <a:ext cx="131036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04288"/>
            <a:ext cx="14743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53477"/>
            <a:ext cx="164626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0D2162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36540"/>
            <a:ext cx="161095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4828" y="3853477"/>
            <a:ext cx="145169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36540"/>
            <a:ext cx="134020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36900" y="3853477"/>
            <a:ext cx="160454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36540"/>
            <a:ext cx="134145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896936"/>
            <a:ext cx="273276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16612"/>
            <a:ext cx="388606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0D2162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27819"/>
            <a:ext cx="6227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61009"/>
            <a:ext cx="3915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62378"/>
            <a:ext cx="38033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36972"/>
            <a:ext cx="273569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유형 구분 ·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아예 시공되지 않은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다른 자재·규격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시방 기준에 못 미치는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설계 자체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9b2_Type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03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유형 판단의 중요성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유형을 잘못 잡으면 담보책임기간이 통째로 바뀝니다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7776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기간이 갈린다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7776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072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산정 방식이 갈린다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072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6368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입증 방법이 갈린다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6368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16432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72005"/>
            <a:ext cx="216563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72005"/>
            <a:ext cx="2175246" cy="413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2016 개정판 ·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90311"/>
            <a:ext cx="127851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c2_Revision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248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개정의 배경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판단 기준이 감정인마다 달라 개정이 필요했습니다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25585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69297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25585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69297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25585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무엇을 보고 하자라고 하는가 ·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761981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04540"/>
            <a:ext cx="1020027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03560"/>
            <a:ext cx="1196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24900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32502"/>
            <a:ext cx="12365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53842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중대한 기능·성능·안전상 시공기준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낮은 경우 표준시방서를 우선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61443"/>
            <a:ext cx="138340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982783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원칙적으로 하자 판단의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390385"/>
            <a:ext cx="86241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11725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적용 우선순위를 경우의 수로 나누어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719326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640666"/>
            <a:ext cx="10200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1040" b="1">
                <a:solidFill>
                  <a:srgbClr val="0D2162"/>
                </a:solidFill>
                <a:latin typeface="Pretendard"/>
              </a:rPr>
              <a:t>한국토지주택공사 시방서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905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조사의 출발점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설계도서를 먼저 확보해야 실제 시공과 대조할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743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743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634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우리가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634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4105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711639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711639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711639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10522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10522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20590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10522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63567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63567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64252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63567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221909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221909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322594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221909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80252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80252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80936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80252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338594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338594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43927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338594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CBB27E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64432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JL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88654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913009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2160144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3116648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491927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JL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4068576"/>
            <a:ext cx="385384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0D2162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443855"/>
            <a:ext cx="3184381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9359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91711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483632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483632"/>
            <a:ext cx="16598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767380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767380"/>
            <a:ext cx="34752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4051128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4051128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498810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791711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483632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483632"/>
            <a:ext cx="168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767380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767380"/>
            <a:ext cx="185095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4051128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4051128"/>
            <a:ext cx="3447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498810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0D2162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791711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483632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483632"/>
            <a:ext cx="233826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767380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767380"/>
            <a:ext cx="336744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4051128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4051128"/>
            <a:ext cx="241496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82054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71531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82054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590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58851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711639"/>
            <a:ext cx="3408634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711639"/>
            <a:ext cx="247135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711639"/>
            <a:ext cx="6314211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101363"/>
            <a:ext cx="100922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2024563"/>
            <a:ext cx="2819171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2024563"/>
            <a:ext cx="2050306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2024563"/>
            <a:ext cx="5202652" cy="556362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금전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548867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548867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548867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548867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874090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874090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874090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874090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199313"/>
            <a:ext cx="25885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199313"/>
            <a:ext cx="3408634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199313"/>
            <a:ext cx="247135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199313"/>
            <a:ext cx="6314211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12b2_Route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2452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청구 경로 간 관계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네 갈래는 배타적이지 않지만, 조정만 고집하면 기간을 놓칠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23531"/>
            <a:ext cx="442390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379819"/>
            <a:ext cx="3652007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7826" y="2123531"/>
            <a:ext cx="4424085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826" y="2379819"/>
            <a:ext cx="365215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차액은 손해배상으로 청구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6769" y="2123531"/>
            <a:ext cx="442390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6769" y="2379819"/>
            <a:ext cx="3652007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535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569765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04540"/>
            <a:ext cx="2915279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2004540"/>
            <a:ext cx="7605354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03560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24900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324900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제37조 ·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53842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653842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61443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2982783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2982783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세대별 채권양도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0385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311725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311725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19326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640666"/>
            <a:ext cx="291527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640666"/>
            <a:ext cx="7605354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2205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채권양도의 필요성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전유부분 손해배상은 입대의가 아니라 세대의 채권양도로 시작됩니다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743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왜 필요한가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743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634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634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양도율이 곧 청구 범위입니다. JL 수행 18건 중 15건에서 확인된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JL 수행 사건 판결문 15건 기준 채권양도비율은 평균 93.28%, 중앙값 95.25%, 범위 75.01~100%입니다.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260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32684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24900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2132684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324900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1040" b="1">
                <a:solidFill>
                  <a:srgbClr val="0D2162"/>
                </a:solidFill>
                <a:latin typeface="Pretendard"/>
              </a:rPr>
              <a:t>7,573건이 하자로 판정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2132684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324900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60일 이내 보수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2132684"/>
            <a:ext cx="318017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324900"/>
            <a:ext cx="318017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581189"/>
            <a:ext cx="2631760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2d2_VsL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36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하심위와 소송의 차이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하심위 조정과 소송은 절차·기간·강제력이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소송과 어떻게 다른가 · 헷갈리기 쉬운 부분입니다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743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743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634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손해배상 소송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634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3525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함께 쓰는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3525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0420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3397101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44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3663" y="640720"/>
            <a:ext cx="99311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82147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821477"/>
            <a:ext cx="12622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24252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242522"/>
            <a:ext cx="236114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66356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663567"/>
            <a:ext cx="163328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308461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084612"/>
            <a:ext cx="140226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82147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821477"/>
            <a:ext cx="11095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24252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242522"/>
            <a:ext cx="17998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663567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663567"/>
            <a:ext cx="10784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084612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3084612"/>
            <a:ext cx="7761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38594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58270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210 옴니고딕 050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37657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210 옴니고딕 050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4597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0194" y="6110730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0620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92967" y="640720"/>
            <a:ext cx="1134807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1639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1153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0666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0180"/>
            <a:ext cx="83110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8611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2529" y="5850867"/>
            <a:ext cx="509757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65997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04540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9623" y="2004540"/>
            <a:ext cx="5731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507963"/>
            <a:ext cx="4320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6477" y="2507963"/>
            <a:ext cx="5771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3011387"/>
            <a:ext cx="9354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739" y="3011387"/>
            <a:ext cx="60374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514810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9932" y="3514810"/>
            <a:ext cx="5471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018234"/>
            <a:ext cx="77746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490" y="4018234"/>
            <a:ext cx="56182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702486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042118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85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일시적 현상이 아니라는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17801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결로처럼 사용검사 후에 나타나는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69297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61513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17801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무엇이 이행되지 않았는지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06b2_DataOrgan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자료 정리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관리사무소 자료는 접수·처리·미이행 세 갈래로 정리합니다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16432"/>
            <a:ext cx="3326621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72005"/>
            <a:ext cx="3326621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585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585" y="2416432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585" y="267200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29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297" y="2416432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297" y="267200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009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009" y="2416432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009" y="2672005"/>
            <a:ext cx="333833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감정신청서 항목으로 옮겨 근거로 붙임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8829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976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976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976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6673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6673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6673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2371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2371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2371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80684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80684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80684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46692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2271" y="640720"/>
            <a:ext cx="1276498" cy="35697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CBB27E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205909"/>
            <a:ext cx="5394868" cy="3459891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205909"/>
            <a:ext cx="5394868" cy="3459891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501045"/>
            <a:ext cx="654853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905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설계도서가 없으면 대조할 기준이 없습니다 ·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25585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있어야 한다는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69297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25585"/>
            <a:ext cx="360080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69297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25585"/>
            <a:ext cx="4361660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공사시방서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08b2_Disclosure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4545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확보 대상·경로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설계도서는 인허가권자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4645225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3711" y="2022846"/>
            <a:ext cx="7317030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79819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711" y="2379819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752810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711" y="2752810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125801"/>
            <a:ext cx="4645225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711" y="3125801"/>
            <a:ext cx="7317030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단지 보유 자료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관리사무소에서 사본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9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45798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88654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1949621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471351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519423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1711639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0D2162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1949621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251675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24396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44072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법무법인 제이엘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599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0D2162"/>
                </a:solidFill>
                <a:latin typeface="210 옴니고딕 050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법무법인 제이엘 수행 사건의 하자내역서를 대조해 정리했습니다.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277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277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277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277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277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3726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37261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37261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37261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14538" y="2137261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40270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402702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402702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402702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402702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66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668144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668144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668144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4538" y="2668144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2933585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2933585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2933585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2933585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4538" y="2933585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19902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199027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199027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199027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199027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46446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464468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464468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464468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14538" y="3464468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372990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3729909"/>
            <a:ext cx="441621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3729909"/>
            <a:ext cx="7373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3729909"/>
            <a:ext cx="125288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4538" y="3729909"/>
            <a:ext cx="5733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60"/>
              </a:lnSpc>
            </a:pPr>
            <a:r>
              <a:rPr sz="900" b="1">
                <a:solidFill>
                  <a:srgbClr val="0D2162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8F7033"/>
                </a:solidFill>
                <a:latin typeface="210 옴니고딕 050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17513"/>
            <a:ext cx="3376415" cy="257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(JL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42918"/>
            <a:ext cx="3376415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17513"/>
            <a:ext cx="2792741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350"/>
              </a:lnSpc>
            </a:pPr>
            <a:r>
              <a:rPr sz="90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31459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46599" y="6631459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843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하심위 하자심사 신청 유형별 비율 ('21~'26.2 평균)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20503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04540"/>
            <a:ext cx="118533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04540"/>
            <a:ext cx="885476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03560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기능 불량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9657" y="2403560"/>
            <a:ext cx="617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24900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들뜸 및 탈락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732502"/>
            <a:ext cx="5740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15.1%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653842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61443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9657" y="3061443"/>
            <a:ext cx="5447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2982783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콘크리트 균열 ·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0385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결로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9657" y="3390385"/>
            <a:ext cx="54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9.9%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9207" y="3311725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19326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누수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9657" y="3719326"/>
            <a:ext cx="51056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7.6%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9207" y="3640666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3c2_Design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675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설계도서 상이시공의 비중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2.7%는 낮아 보이지만 미시공·변경시공의 단서입니다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나머지 유형 · 비율은 낮아도 판단이 갈리는 항목입니다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20503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04540"/>
            <a:ext cx="118533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04540"/>
            <a:ext cx="885476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24900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360" y="2324900"/>
            <a:ext cx="118533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24900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13431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2732502"/>
            <a:ext cx="52722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653842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설계와 다르게 시공된 것 ·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2982783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2360" y="2982783"/>
            <a:ext cx="118533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2982783"/>
            <a:ext cx="885476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36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두 항목을 나눠서 봅니다 ·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32684"/>
            <a:ext cx="67945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24900"/>
            <a:ext cx="679456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581189"/>
            <a:ext cx="5596695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정전 시 홈네트워크가 정지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별개 항목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2132684"/>
            <a:ext cx="679456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324900"/>
            <a:ext cx="679456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581189"/>
            <a:ext cx="5596695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세대단자함 또는 세대단말기(월패드)에 포함해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월패드 내장형도 적법한 시공 형태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14b_Gateway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019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홈게이트웨이 판단 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홈게이트웨이는 설치·연동·고지 세 단계로 판단합니다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18533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8576" y="2004540"/>
            <a:ext cx="4260792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4432" y="2004540"/>
            <a:ext cx="664427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03560"/>
            <a:ext cx="6128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① 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576" y="2324900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사업승인일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4432" y="2324900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6128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②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8576" y="2653842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별도 장비로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4432" y="2653842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61443"/>
            <a:ext cx="6128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③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576" y="2982783"/>
            <a:ext cx="4260792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실제로 구현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4432" y="2982783"/>
            <a:ext cx="6644273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26884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8880" y="1702486"/>
            <a:ext cx="516871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사진만으로는 부족률을 알 수 없어 단면 모식도와 뒤채움률(%)을 함께 제시합니다.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8880" y="2260828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880" y="2544576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뒤채움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47745" y="2544576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880" y="2756815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부착강도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745" y="2756815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40" b="0">
                <a:solidFill>
                  <a:srgbClr val="0D2162"/>
                </a:solidFill>
                <a:latin typeface="Pretendard"/>
              </a:rPr>
              <a:t>0.39N/㎟ 미만이면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2026 개정판이 처음으로 제시한 기준입니다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880" y="3135527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중첩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745" y="3135527"/>
            <a:ext cx="4361405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40" b="0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880" y="3578310"/>
            <a:ext cx="627283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8880" y="3862058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7745" y="3862058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880" y="4074297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745" y="4074297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880" y="4286536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745" y="4286536"/>
            <a:ext cx="5288691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884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848864"/>
            <a:ext cx="3518808" cy="543697"/>
          </a:xfrm>
          <a:prstGeom prst="rect">
            <a:avLst/>
          </a:prstGeom>
          <a:noFill/>
        </p:spPr>
        <p:txBody>
          <a:bodyPr wrap="square" anchor="t" lIns="109837" rIns="109837" tIns="219675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현장 실측 · 파취조사 후 바닥 두께 계측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3149" y="5775639"/>
            <a:ext cx="3744812" cy="622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측정 방법 모식도 (보조 사례 · 옥탑·옥상 노출우레탄, 기준 3mm 대비 실측 1.82mm) · 우측 감정 실측값(발코니·욕실)과는 별개 사례입니다.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8965" y="1794018"/>
            <a:ext cx="5363747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8965" y="2090494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57829" y="2090494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8965" y="2334197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829" y="2334197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8965" y="2577899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829" y="2577899"/>
            <a:ext cx="437960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 기준 두께와 대조해 부족분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16b_Standard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1948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방수 두께 기준의 현실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두께 기준은 현장마다 달라 설계도서 확인이 먼저입니다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94018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0494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통일 기준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441" y="2090494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40" b="0">
                <a:solidFill>
                  <a:srgbClr val="0D2162"/>
                </a:solidFill>
                <a:latin typeface="Pretendard"/>
              </a:rPr>
              <a:t>4㎜ · 6㎜ · 벽 6㎜/바닥 10㎜</a:t>
            </a:r>
            <a:r>
              <a:rPr sz="940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4197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0D2162"/>
                </a:solidFill>
                <a:latin typeface="Pretendard"/>
              </a:rPr>
              <a:t>그래서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1441" y="2334197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40" b="0">
                <a:solidFill>
                  <a:srgbClr val="0D2162"/>
                </a:solidFill>
                <a:latin typeface="Pretendard"/>
              </a:rPr>
              <a:t>설계도서에 무엇이 적혀 있는지 확인하는 것이 먼저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84162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1441" y="2980638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1601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4484" y="1913009"/>
            <a:ext cx="7353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6716" y="1913009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4484" y="2169297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063" y="2169297"/>
            <a:ext cx="245231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484" y="2425585"/>
            <a:ext cx="10588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6840" y="2425585"/>
            <a:ext cx="9178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484" y="268187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9652" y="2681873"/>
            <a:ext cx="27574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484" y="2938162"/>
            <a:ext cx="722512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0549" y="2938162"/>
            <a:ext cx="4247577" cy="316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880" y="3551423"/>
            <a:ext cx="516871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905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원인 분류 ·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17801"/>
            <a:ext cx="2612538" cy="696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불충분한 다짐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1040" b="1">
                <a:solidFill>
                  <a:srgbClr val="0D2162"/>
                </a:solidFill>
                <a:latin typeface="Pretendard"/>
              </a:rPr>
              <a:t>거푸집 조기 제거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17b2_CrackReme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5638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원인별 보수공법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 원인 분류가 끝나야 보수공법과 재시공비가 정해집니다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표면처리 공법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주입식 공법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충전식 공법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17801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69297"/>
            <a:ext cx="31567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61513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도포식 공법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17801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500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법원 발간 실무서가 예시로 직접 든 하자입니다 ·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원문 예시 ·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25585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2169297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425585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1040" b="1">
                <a:solidFill>
                  <a:srgbClr val="0D2162"/>
                </a:solidFill>
                <a:latin typeface="Pretendard"/>
              </a:rPr>
              <a:t>12㎜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69297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25585"/>
            <a:ext cx="3156739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사용검사 전의 변경시공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2169297"/>
            <a:ext cx="3156739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425585"/>
            <a:ext cx="2612538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13924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51452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51452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857481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857481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200439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200439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산정 방식이 원문에 확정되어 있습니다 ·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79315"/>
            <a:ext cx="3674533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91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원문 예시 ·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17801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69297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61513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17801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17d2_Condensation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결로 조사 방법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결로 발생 시점을 봐야 하자 여부와 기간 구간이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7776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원문의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7776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072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실무상 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072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6368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두께·등급 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6368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0663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결로 부위 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0663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3년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22846"/>
            <a:ext cx="176198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22846"/>
            <a:ext cx="3395819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2022846"/>
            <a:ext cx="6932598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80504"/>
            <a:ext cx="86241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379819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379819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53495"/>
            <a:ext cx="76172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752810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752810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226486"/>
            <a:ext cx="104034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3125801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3125801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599477"/>
            <a:ext cx="109105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498792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498792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972468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871783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871783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345459"/>
            <a:ext cx="105554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4244774"/>
            <a:ext cx="3395819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4244774"/>
            <a:ext cx="6932598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6052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개정으로 달라진 항목 · 균열·타일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균열은 충전식 원칙, 타일은 부착강도 0.39N/㎟ 기준이 새로 생겼습니다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1761981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33863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7989787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032000"/>
            <a:ext cx="1761981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32000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32000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예외적으로 표면처리 공법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38682"/>
            <a:ext cx="138340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60022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2014년 단가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60022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노무 공량·노무비 단가는 소 제기 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166704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088045"/>
            <a:ext cx="2338630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088045"/>
            <a:ext cx="7989787" cy="560378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인장 부착강도 0.39N/㎟ 미만이면 하자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694727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616067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616067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17g_RevisedIt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5736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개정으로 달라진 항목 · 방수·도장·방화문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방수 두께는 통일 기준이 없고, 방화문은 성능시험으로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1761981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338630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7989787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110659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액체방수 두께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32000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32000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통일 기준을 제시하지 않음.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할 수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439601"/>
            <a:ext cx="10495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무늬코트 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360941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360941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수성싸인펜을 이용한 방식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2768542"/>
            <a:ext cx="90268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방화문 성능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2689882"/>
            <a:ext cx="2338630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2689882"/>
            <a:ext cx="7989787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당기는 면과 미는 면의 합격률을 모두 고려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1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1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403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804709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21824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5144072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527221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552850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565664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3084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913009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306594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48965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3128376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311439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950157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4133220"/>
            <a:ext cx="3619522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566994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75005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36504"/>
            <a:ext cx="135594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44636" y="6022774"/>
            <a:ext cx="15906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85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16432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72005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47254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861200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116773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861200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411677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861200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411677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861200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4116773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861200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411677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586605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861200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4116773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1886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64252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JL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26018"/>
            <a:ext cx="454124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64684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26018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210 옴니고딕 050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37225"/>
            <a:ext cx="45412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905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16432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72005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4183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16432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72005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_S19b2_PracticeIss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36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채권양도 실무의 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실무는 세대 접촉과 서류 보관에서 자주 막힙니다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7776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7776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072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임차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072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6368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6368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06637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법인·기관 소유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06637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JL 수행 사건 판결문 15건에서 확인된 양도비율은 평균 </a:t>
            </a:r>
            <a:r>
              <a:rPr sz="1040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991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099" y="3267675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099" y="3487351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902067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140049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_S20b_Supplement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4105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감정보완신청 사유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감정서가 도착하면 이 네 가지를 먼저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감정보완신청 사유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41837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항목 누락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52360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74" y="2141837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계측 방법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774" y="2352360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6522" y="2141837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단가 적용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6522" y="2352360"/>
            <a:ext cx="2650981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0270" y="2141837"/>
            <a:ext cx="320360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수량 산출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0270" y="2352360"/>
            <a:ext cx="3203603" cy="2660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79315"/>
            <a:ext cx="3684144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44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18486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02234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498810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718486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3002234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498810"/>
            <a:ext cx="424431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718486"/>
            <a:ext cx="4244317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0D2162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3002234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0090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02054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·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CBB27E"/>
                </a:solidFill>
                <a:latin typeface="210 옴니고딕 050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210 옴니고딕 050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25765"/>
            <a:ext cx="2434738" cy="355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FFFFFF"/>
                </a:solidFill>
                <a:latin typeface="210 옴니고딕 050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23027"/>
            <a:ext cx="29399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06090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25765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13189"/>
            <a:ext cx="551019" cy="1037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23027"/>
            <a:ext cx="2939992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1">
                <a:solidFill>
                  <a:srgbClr val="8F7033"/>
                </a:solidFill>
                <a:latin typeface="210 옴니고딕 050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896936"/>
            <a:ext cx="29399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210 옴니고딕 050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16612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96"/>
              </a:lnSpc>
            </a:pPr>
            <a:r>
              <a:rPr sz="860" b="0">
                <a:solidFill>
                  <a:srgbClr val="111418"/>
                </a:solidFill>
                <a:latin typeface="210 옴니고딕 050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45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정기 보고서 구성 ·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2119870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04540"/>
            <a:ext cx="12406549" cy="45565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394264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17463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19487"/>
            <a:ext cx="71559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42686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44710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967909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369933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293132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695156"/>
            <a:ext cx="42196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618355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020379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943578"/>
            <a:ext cx="12406549" cy="474104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_S21b2_Adhoc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수시 보고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소장 접수·감정서 도착·판결 선고 시점마다 별도로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별도 보고가 나가는 시점 · 소장 접수 · 감정서 도착 · 판결 선고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557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수록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557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1254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809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1416" y="2013693"/>
            <a:ext cx="5535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520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5286" y="2013693"/>
            <a:ext cx="41170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24003" y="2013693"/>
            <a:ext cx="244525" cy="6326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84612"/>
            <a:ext cx="3080585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84612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590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17801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69297"/>
            <a:ext cx="43614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61513"/>
            <a:ext cx="4361477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17801"/>
            <a:ext cx="4361477" cy="3224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채권압류·추심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69297"/>
            <a:ext cx="436166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61513"/>
            <a:ext cx="436166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1">
                <a:solidFill>
                  <a:srgbClr val="0D2162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17801"/>
            <a:ext cx="3600950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실익을 검토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_S22b2_Post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3606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회수 이후의 보수공사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회수금은 보수공사로 이어져야 하자소송의 목적이 완성됩니다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회수 이후 · 보수공사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7776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7776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2072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2072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63680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주의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763680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1040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책임제한 비율은 JL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767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3433896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8776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19657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4759639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488778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3644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534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27"/>
              </a:lnSpc>
            </a:pPr>
            <a:r>
              <a:rPr sz="2450" b="1">
                <a:solidFill>
                  <a:srgbClr val="FFFFFF"/>
                </a:solidFill>
                <a:latin typeface="210 옴니고딕 050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57153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0D2162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0324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0324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17297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17297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574270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574270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31243"/>
            <a:ext cx="921978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31243"/>
            <a:ext cx="258851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991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867243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2086918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388972"/>
            <a:ext cx="47208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810018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04540"/>
            <a:ext cx="1665873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2004540"/>
            <a:ext cx="2050306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2004540"/>
            <a:ext cx="8374219" cy="336103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03560"/>
            <a:ext cx="79614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324900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324900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32502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653842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653842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061443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2982783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2982783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390385"/>
            <a:ext cx="94295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311725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311725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719326"/>
            <a:ext cx="75586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640666"/>
            <a:ext cx="2050306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640666"/>
            <a:ext cx="8374219" cy="345371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비용 부담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비용은 항목별로 선지급·정산 부담 방식이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743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법무법인 대납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743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1040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6342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협의 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6342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1040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88518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3978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839783"/>
            <a:ext cx="84381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2050306"/>
            <a:ext cx="843810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58047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580474"/>
            <a:ext cx="855160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790996"/>
            <a:ext cx="8551607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332116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3321164"/>
            <a:ext cx="1080657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531686"/>
            <a:ext cx="10806578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법무법인 제이엘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06185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210 옴니고딕 050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4061854"/>
            <a:ext cx="980943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4272377"/>
            <a:ext cx="9809434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19351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5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9027" y="1372972"/>
            <a:ext cx="106542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027" y="1702486"/>
            <a:ext cx="2016073" cy="105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29"/>
              </a:lnSpc>
            </a:pPr>
            <a:r>
              <a:rPr sz="461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9027" y="2654414"/>
            <a:ext cx="157434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027" y="3185297"/>
            <a:ext cx="2446637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CBB27E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3990774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411891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4375207"/>
            <a:ext cx="6279063" cy="415187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4503351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1">
                <a:solidFill>
                  <a:srgbClr val="CBB27E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6324828"/>
            <a:ext cx="112345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55647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4554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576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FFFFFF"/>
                </a:solidFill>
                <a:latin typeface="210 옴니고딕 050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682570"/>
            <a:ext cx="674770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38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69297"/>
            <a:ext cx="28257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보수 이력과 지출 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42288"/>
            <a:ext cx="271921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41603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915279"/>
            <a:ext cx="263867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814594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288270"/>
            <a:ext cx="157049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187585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착수 전에 금액을 단정해 말씀드릴 수 없습니다.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_S30c_FA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215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자주 묻는 질문 · 계속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비용·기간·중도 매도에 관한 질문도 자주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69297"/>
            <a:ext cx="1196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42288"/>
            <a:ext cx="2981203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41603"/>
            <a:ext cx="8662544" cy="60795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이미 체결한 위임계약이 있으면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3114360"/>
            <a:ext cx="282576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3013675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1040" b="1">
                <a:solidFill>
                  <a:srgbClr val="0D2162"/>
                </a:solidFill>
                <a:latin typeface="Pretendard"/>
              </a:rPr>
              <a:t>양도 이전에 매도한 세대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487351"/>
            <a:ext cx="253212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386666"/>
            <a:ext cx="8662544" cy="392944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566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1040" b="1">
                <a:solidFill>
                  <a:srgbClr val="0D2162"/>
                </a:solidFill>
                <a:latin typeface="Pretendard"/>
              </a:rPr>
              <a:t>하자 상태를 감정으로 증명하기 어려워집니다.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세대당 평균 329만원은 JL 수행 18건(9,979세대)의 실적 평균이며, </a:t>
            </a:r>
            <a:r>
              <a:rPr sz="1040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4338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BB27E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372972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1720792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0D2162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1949621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227791"/>
            <a:ext cx="3455498" cy="32951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0D2162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0653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82869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821405"/>
            <a:ext cx="507853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31927"/>
            <a:ext cx="507853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5165" y="5821405"/>
            <a:ext cx="472796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5165" y="6031927"/>
            <a:ext cx="472796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528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① 서류 ·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557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3557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3076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3076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25953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25953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·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_S31b2_List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27300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33220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BB27E"/>
                </a:solidFill>
                <a:latin typeface="Pretendard"/>
              </a:rPr>
              <a:t>착수 전 준비 사항 · 명단·일정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채권양도용 세대 명단과 설명회·총회 일정을 미리 정해 주시면 맞춥니다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② 명단 · 채권양도에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3557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세대 명단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180" y="203557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330764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소유권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180" y="2330764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677297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③ 일정 · 미리 정해 주시면 맞춥니다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10386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설명회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010386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305575"/>
            <a:ext cx="151063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0D2162"/>
                </a:solidFill>
                <a:latin typeface="Pretendard"/>
              </a:rPr>
              <a:t>총회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4180" y="3305575"/>
            <a:ext cx="12922055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79315"/>
            <a:ext cx="3684144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0D2162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04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79315"/>
            <a:ext cx="36745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6036"/>
            <a:ext cx="115952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0D2162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6599" y="6636036"/>
            <a:ext cx="106615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60820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BB27E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942809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12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CBB27E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CBB27E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50486"/>
            <a:ext cx="2236065" cy="383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395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CBB27E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075173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075173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534547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534547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774245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21405"/>
            <a:ext cx="1754293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60072"/>
            <a:ext cx="175429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2032" y="5821405"/>
            <a:ext cx="1782851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2032" y="6160072"/>
            <a:ext cx="178285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0736" y="5821405"/>
            <a:ext cx="1597957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210 옴니고딕 050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736" y="6160072"/>
            <a:ext cx="15979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6456" y="5912936"/>
            <a:ext cx="1509904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6456" y="6169225"/>
            <a:ext cx="150990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209"/>
              </a:lnSpc>
            </a:pPr>
            <a:r>
              <a:rPr sz="860" b="0">
                <a:solidFill>
                  <a:srgbClr val="CBB27E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